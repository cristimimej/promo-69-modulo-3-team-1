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Montserrat Black"/>
      <p:regular r:id="rId16"/>
    </p:embeddedFont>
    <p:embeddedFont>
      <p:font typeface="Montserrat Black"/>
      <p:regular r:id="rId17"/>
    </p:embeddedFont>
    <p:embeddedFont>
      <p:font typeface="Inconsolata"/>
      <p:regular r:id="rId18"/>
    </p:embeddedFont>
    <p:embeddedFont>
      <p:font typeface="Inconsolata"/>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054429"/>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151617"/>
                </a:solidFill>
                <a:latin typeface="Montserrat Black" pitchFamily="34" charset="0"/>
                <a:ea typeface="Montserrat Black" pitchFamily="34" charset="-122"/>
                <a:cs typeface="Montserrat Black" pitchFamily="34" charset="-120"/>
              </a:rPr>
              <a:t>Transformando el talento</a:t>
            </a:r>
            <a:endParaRPr lang="en-US" sz="4450" dirty="0"/>
          </a:p>
        </p:txBody>
      </p:sp>
      <p:sp>
        <p:nvSpPr>
          <p:cNvPr id="4" name="Text 1"/>
          <p:cNvSpPr/>
          <p:nvPr/>
        </p:nvSpPr>
        <p:spPr>
          <a:xfrm>
            <a:off x="6280190" y="4812149"/>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Proyecto Módulo 3</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3040380" y="345400"/>
            <a:ext cx="742950" cy="196929"/>
          </a:xfrm>
          <a:prstGeom prst="roundRect">
            <a:avLst>
              <a:gd name="adj" fmla="val 4643"/>
            </a:avLst>
          </a:prstGeom>
          <a:solidFill>
            <a:srgbClr val="E4E6E7"/>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114675" y="394335"/>
            <a:ext cx="99060" cy="99060"/>
          </a:xfrm>
          <a:prstGeom prst="rect">
            <a:avLst/>
          </a:prstGeom>
        </p:spPr>
      </p:pic>
      <p:sp>
        <p:nvSpPr>
          <p:cNvPr id="4" name="Text 1"/>
          <p:cNvSpPr/>
          <p:nvPr/>
        </p:nvSpPr>
        <p:spPr>
          <a:xfrm>
            <a:off x="3263265" y="382548"/>
            <a:ext cx="445770" cy="122634"/>
          </a:xfrm>
          <a:prstGeom prst="rect">
            <a:avLst/>
          </a:prstGeom>
          <a:noFill/>
          <a:ln/>
        </p:spPr>
        <p:txBody>
          <a:bodyPr wrap="none" lIns="0" tIns="0" rIns="0" bIns="0" rtlCol="0" anchor="t"/>
          <a:lstStyle/>
          <a:p>
            <a:pPr algn="l" indent="0" marL="0">
              <a:lnSpc>
                <a:spcPts val="950"/>
              </a:lnSpc>
              <a:buNone/>
            </a:pPr>
            <a:r>
              <a:rPr lang="en-US" sz="750" dirty="0">
                <a:solidFill>
                  <a:srgbClr val="151617"/>
                </a:solidFill>
                <a:latin typeface="Inconsolata" pitchFamily="34" charset="0"/>
                <a:ea typeface="Inconsolata" pitchFamily="34" charset="-122"/>
                <a:cs typeface="Inconsolata" pitchFamily="34" charset="-120"/>
              </a:rPr>
              <a:t>OBJETIVOS</a:t>
            </a:r>
            <a:endParaRPr lang="en-US" sz="750" dirty="0"/>
          </a:p>
        </p:txBody>
      </p:sp>
      <p:sp>
        <p:nvSpPr>
          <p:cNvPr id="5" name="Text 2"/>
          <p:cNvSpPr/>
          <p:nvPr/>
        </p:nvSpPr>
        <p:spPr>
          <a:xfrm>
            <a:off x="3040380" y="569357"/>
            <a:ext cx="8549521" cy="774383"/>
          </a:xfrm>
          <a:prstGeom prst="rect">
            <a:avLst/>
          </a:prstGeom>
          <a:noFill/>
          <a:ln/>
        </p:spPr>
        <p:txBody>
          <a:bodyPr wrap="square" lIns="0" tIns="0" rIns="0" bIns="0" rtlCol="0" anchor="t"/>
          <a:lstStyle/>
          <a:p>
            <a:pPr algn="l" indent="0" marL="0">
              <a:lnSpc>
                <a:spcPts val="3000"/>
              </a:lnSpc>
              <a:buNone/>
            </a:pPr>
            <a:r>
              <a:rPr lang="en-US" sz="2400" b="1" dirty="0">
                <a:solidFill>
                  <a:srgbClr val="151617"/>
                </a:solidFill>
                <a:latin typeface="Montserrat Black" pitchFamily="34" charset="0"/>
                <a:ea typeface="Montserrat Black" pitchFamily="34" charset="-122"/>
                <a:cs typeface="Montserrat Black" pitchFamily="34" charset="-120"/>
              </a:rPr>
              <a:t>Una empresa tecnológica ha contactado con el equipo Ángela Nieto de Adalab…</a:t>
            </a:r>
            <a:endParaRPr lang="en-US" sz="2400" dirty="0"/>
          </a:p>
        </p:txBody>
      </p:sp>
      <p:pic>
        <p:nvPicPr>
          <p:cNvPr id="6" name="Image 1" descr="preencoded.png">    </p:cNvPr>
          <p:cNvPicPr>
            <a:picLocks noChangeAspect="1"/>
          </p:cNvPicPr>
          <p:nvPr/>
        </p:nvPicPr>
        <p:blipFill>
          <a:blip r:embed="rId3"/>
          <a:stretch>
            <a:fillRect/>
          </a:stretch>
        </p:blipFill>
        <p:spPr>
          <a:xfrm>
            <a:off x="3040380" y="1521262"/>
            <a:ext cx="4300657" cy="4300657"/>
          </a:xfrm>
          <a:prstGeom prst="rect">
            <a:avLst/>
          </a:prstGeom>
        </p:spPr>
      </p:pic>
      <p:sp>
        <p:nvSpPr>
          <p:cNvPr id="7" name="Text 3"/>
          <p:cNvSpPr/>
          <p:nvPr/>
        </p:nvSpPr>
        <p:spPr>
          <a:xfrm>
            <a:off x="7650837" y="1506022"/>
            <a:ext cx="3946565" cy="1072634"/>
          </a:xfrm>
          <a:prstGeom prst="rect">
            <a:avLst/>
          </a:prstGeom>
          <a:noFill/>
          <a:ln/>
        </p:spPr>
        <p:txBody>
          <a:bodyPr wrap="square" lIns="0" tIns="0" rIns="0" bIns="0" rtlCol="0" anchor="t"/>
          <a:lstStyle/>
          <a:p>
            <a:pPr algn="l" indent="0" marL="0">
              <a:lnSpc>
                <a:spcPts val="1200"/>
              </a:lnSpc>
              <a:buNone/>
            </a:pPr>
            <a:r>
              <a:rPr lang="en-US" sz="950" dirty="0">
                <a:solidFill>
                  <a:srgbClr val="151617"/>
                </a:solidFill>
                <a:latin typeface="Inconsolata" pitchFamily="34" charset="0"/>
                <a:ea typeface="Inconsolata" pitchFamily="34" charset="-122"/>
                <a:cs typeface="Inconsolata" pitchFamily="34" charset="-120"/>
              </a:rPr>
              <a:t>Esta empresa está preocupada por la "fuga de cerebros" que está sufriendo. Muchos de sus trabajadores se están cambiando de empresa y les gustaría saber el porqué. Además, también querrían saber más información relevante, como qué factores influyen en que sus trabajadores se sientan más cómodos en sus puestos de trabajo. ¿Puede haber razones de sueldo, sexo, edad, rol, teletrabajo? Habrá que investigar…</a:t>
            </a:r>
            <a:endParaRPr lang="en-US" sz="950" dirty="0"/>
          </a:p>
        </p:txBody>
      </p:sp>
      <p:sp>
        <p:nvSpPr>
          <p:cNvPr id="8" name="Text 4"/>
          <p:cNvSpPr/>
          <p:nvPr/>
        </p:nvSpPr>
        <p:spPr>
          <a:xfrm>
            <a:off x="7650837" y="2639497"/>
            <a:ext cx="3946565" cy="153233"/>
          </a:xfrm>
          <a:prstGeom prst="rect">
            <a:avLst/>
          </a:prstGeom>
          <a:noFill/>
          <a:ln/>
        </p:spPr>
        <p:txBody>
          <a:bodyPr wrap="none" lIns="0" tIns="0" rIns="0" bIns="0" rtlCol="0" anchor="t"/>
          <a:lstStyle/>
          <a:p>
            <a:pPr algn="l" indent="0" marL="0">
              <a:lnSpc>
                <a:spcPts val="1200"/>
              </a:lnSpc>
              <a:buNone/>
            </a:pPr>
            <a:endParaRPr lang="en-US" sz="950" dirty="0"/>
          </a:p>
        </p:txBody>
      </p:sp>
      <p:sp>
        <p:nvSpPr>
          <p:cNvPr id="9" name="Text 5"/>
          <p:cNvSpPr/>
          <p:nvPr/>
        </p:nvSpPr>
        <p:spPr>
          <a:xfrm>
            <a:off x="7650837" y="2853571"/>
            <a:ext cx="3946565" cy="153233"/>
          </a:xfrm>
          <a:prstGeom prst="rect">
            <a:avLst/>
          </a:prstGeom>
          <a:noFill/>
          <a:ln/>
        </p:spPr>
        <p:txBody>
          <a:bodyPr wrap="none" lIns="0" tIns="0" rIns="0" bIns="0" rtlCol="0" anchor="t"/>
          <a:lstStyle/>
          <a:p>
            <a:pPr algn="l" indent="0" marL="0">
              <a:lnSpc>
                <a:spcPts val="1200"/>
              </a:lnSpc>
              <a:buNone/>
            </a:pPr>
            <a:r>
              <a:rPr lang="en-US" sz="950" dirty="0">
                <a:solidFill>
                  <a:srgbClr val="151617"/>
                </a:solidFill>
                <a:latin typeface="Inconsolata" pitchFamily="34" charset="0"/>
                <a:ea typeface="Inconsolata" pitchFamily="34" charset="-122"/>
                <a:cs typeface="Inconsolata" pitchFamily="34" charset="-120"/>
              </a:rPr>
              <a:t>Tenemos un csv y mucho por hacer.</a:t>
            </a:r>
            <a:endParaRPr lang="en-US" sz="950" dirty="0"/>
          </a:p>
        </p:txBody>
      </p:sp>
      <p:sp>
        <p:nvSpPr>
          <p:cNvPr id="10" name="Text 6"/>
          <p:cNvSpPr/>
          <p:nvPr/>
        </p:nvSpPr>
        <p:spPr>
          <a:xfrm>
            <a:off x="3040380" y="5974080"/>
            <a:ext cx="123825" cy="154781"/>
          </a:xfrm>
          <a:prstGeom prst="rect">
            <a:avLst/>
          </a:prstGeom>
          <a:noFill/>
          <a:ln/>
        </p:spPr>
        <p:txBody>
          <a:bodyPr wrap="none" lIns="0" tIns="0" rIns="0" bIns="0" rtlCol="0" anchor="t"/>
          <a:lstStyle/>
          <a:p>
            <a:pPr algn="l" indent="0" marL="0">
              <a:lnSpc>
                <a:spcPts val="1200"/>
              </a:lnSpc>
              <a:buNone/>
            </a:pPr>
            <a:r>
              <a:rPr lang="en-US" sz="950" dirty="0">
                <a:solidFill>
                  <a:srgbClr val="151617"/>
                </a:solidFill>
                <a:latin typeface="Montserrat Light" pitchFamily="34" charset="0"/>
                <a:ea typeface="Montserrat Light" pitchFamily="34" charset="-122"/>
                <a:cs typeface="Montserrat Light" pitchFamily="34" charset="-120"/>
              </a:rPr>
              <a:t>01</a:t>
            </a:r>
            <a:endParaRPr lang="en-US" sz="950" dirty="0"/>
          </a:p>
        </p:txBody>
      </p:sp>
      <p:sp>
        <p:nvSpPr>
          <p:cNvPr id="11" name="Shape 7"/>
          <p:cNvSpPr/>
          <p:nvPr/>
        </p:nvSpPr>
        <p:spPr>
          <a:xfrm>
            <a:off x="3040380" y="6169343"/>
            <a:ext cx="4240887" cy="15240"/>
          </a:xfrm>
          <a:prstGeom prst="rect">
            <a:avLst/>
          </a:prstGeom>
          <a:solidFill>
            <a:srgbClr val="151617"/>
          </a:solidFill>
          <a:ln/>
        </p:spPr>
      </p:sp>
      <p:sp>
        <p:nvSpPr>
          <p:cNvPr id="12" name="Text 8"/>
          <p:cNvSpPr/>
          <p:nvPr/>
        </p:nvSpPr>
        <p:spPr>
          <a:xfrm>
            <a:off x="3040380" y="6261735"/>
            <a:ext cx="2161461" cy="193596"/>
          </a:xfrm>
          <a:prstGeom prst="rect">
            <a:avLst/>
          </a:prstGeom>
          <a:noFill/>
          <a:ln/>
        </p:spPr>
        <p:txBody>
          <a:bodyPr wrap="none" lIns="0" tIns="0" rIns="0" bIns="0" rtlCol="0" anchor="t"/>
          <a:lstStyle/>
          <a:p>
            <a:pPr algn="l" indent="0" marL="0">
              <a:lnSpc>
                <a:spcPts val="1500"/>
              </a:lnSpc>
              <a:buNone/>
            </a:pPr>
            <a:r>
              <a:rPr lang="en-US" sz="1200" b="1" dirty="0">
                <a:solidFill>
                  <a:srgbClr val="151617"/>
                </a:solidFill>
                <a:latin typeface="Montserrat Black" pitchFamily="34" charset="0"/>
                <a:ea typeface="Montserrat Black" pitchFamily="34" charset="-122"/>
                <a:cs typeface="Montserrat Black" pitchFamily="34" charset="-120"/>
              </a:rPr>
              <a:t>Identificar patrones clave</a:t>
            </a:r>
            <a:endParaRPr lang="en-US" sz="1200" dirty="0"/>
          </a:p>
        </p:txBody>
      </p:sp>
      <p:sp>
        <p:nvSpPr>
          <p:cNvPr id="13" name="Text 9"/>
          <p:cNvSpPr/>
          <p:nvPr/>
        </p:nvSpPr>
        <p:spPr>
          <a:xfrm>
            <a:off x="3040380" y="6495931"/>
            <a:ext cx="4240887" cy="306467"/>
          </a:xfrm>
          <a:prstGeom prst="rect">
            <a:avLst/>
          </a:prstGeom>
          <a:noFill/>
          <a:ln/>
        </p:spPr>
        <p:txBody>
          <a:bodyPr wrap="square" lIns="0" tIns="0" rIns="0" bIns="0" rtlCol="0" anchor="t"/>
          <a:lstStyle/>
          <a:p>
            <a:pPr algn="l" indent="0" marL="0">
              <a:lnSpc>
                <a:spcPts val="1200"/>
              </a:lnSpc>
              <a:buNone/>
            </a:pPr>
            <a:r>
              <a:rPr lang="en-US" sz="950" dirty="0">
                <a:solidFill>
                  <a:srgbClr val="151617"/>
                </a:solidFill>
                <a:latin typeface="Inconsolata" pitchFamily="34" charset="0"/>
                <a:ea typeface="Inconsolata" pitchFamily="34" charset="-122"/>
                <a:cs typeface="Inconsolata" pitchFamily="34" charset="-120"/>
              </a:rPr>
              <a:t>Descubrir tendencias ocultas en los datos que revelen oportunidades de negocio</a:t>
            </a:r>
            <a:endParaRPr lang="en-US" sz="950" dirty="0"/>
          </a:p>
        </p:txBody>
      </p:sp>
      <p:sp>
        <p:nvSpPr>
          <p:cNvPr id="14" name="Text 10"/>
          <p:cNvSpPr/>
          <p:nvPr/>
        </p:nvSpPr>
        <p:spPr>
          <a:xfrm>
            <a:off x="7348895" y="5974080"/>
            <a:ext cx="123825" cy="154781"/>
          </a:xfrm>
          <a:prstGeom prst="rect">
            <a:avLst/>
          </a:prstGeom>
          <a:noFill/>
          <a:ln/>
        </p:spPr>
        <p:txBody>
          <a:bodyPr wrap="none" lIns="0" tIns="0" rIns="0" bIns="0" rtlCol="0" anchor="t"/>
          <a:lstStyle/>
          <a:p>
            <a:pPr algn="l" indent="0" marL="0">
              <a:lnSpc>
                <a:spcPts val="1200"/>
              </a:lnSpc>
              <a:buNone/>
            </a:pPr>
            <a:r>
              <a:rPr lang="en-US" sz="950" dirty="0">
                <a:solidFill>
                  <a:srgbClr val="151617"/>
                </a:solidFill>
                <a:latin typeface="Montserrat Light" pitchFamily="34" charset="0"/>
                <a:ea typeface="Montserrat Light" pitchFamily="34" charset="-122"/>
                <a:cs typeface="Montserrat Light" pitchFamily="34" charset="-120"/>
              </a:rPr>
              <a:t>02</a:t>
            </a:r>
            <a:endParaRPr lang="en-US" sz="950" dirty="0"/>
          </a:p>
        </p:txBody>
      </p:sp>
      <p:sp>
        <p:nvSpPr>
          <p:cNvPr id="15" name="Shape 11"/>
          <p:cNvSpPr/>
          <p:nvPr/>
        </p:nvSpPr>
        <p:spPr>
          <a:xfrm>
            <a:off x="7348895" y="6169343"/>
            <a:ext cx="4241006" cy="15240"/>
          </a:xfrm>
          <a:prstGeom prst="rect">
            <a:avLst/>
          </a:prstGeom>
          <a:solidFill>
            <a:srgbClr val="151617"/>
          </a:solidFill>
          <a:ln/>
        </p:spPr>
      </p:sp>
      <p:sp>
        <p:nvSpPr>
          <p:cNvPr id="16" name="Text 12"/>
          <p:cNvSpPr/>
          <p:nvPr/>
        </p:nvSpPr>
        <p:spPr>
          <a:xfrm>
            <a:off x="7348895" y="6261735"/>
            <a:ext cx="1635323" cy="193596"/>
          </a:xfrm>
          <a:prstGeom prst="rect">
            <a:avLst/>
          </a:prstGeom>
          <a:noFill/>
          <a:ln/>
        </p:spPr>
        <p:txBody>
          <a:bodyPr wrap="none" lIns="0" tIns="0" rIns="0" bIns="0" rtlCol="0" anchor="t"/>
          <a:lstStyle/>
          <a:p>
            <a:pPr algn="l" indent="0" marL="0">
              <a:lnSpc>
                <a:spcPts val="1500"/>
              </a:lnSpc>
              <a:buNone/>
            </a:pPr>
            <a:r>
              <a:rPr lang="en-US" sz="1200" b="1" dirty="0">
                <a:solidFill>
                  <a:srgbClr val="151617"/>
                </a:solidFill>
                <a:latin typeface="Montserrat Black" pitchFamily="34" charset="0"/>
                <a:ea typeface="Montserrat Black" pitchFamily="34" charset="-122"/>
                <a:cs typeface="Montserrat Black" pitchFamily="34" charset="-120"/>
              </a:rPr>
              <a:t>Optimizar procesos</a:t>
            </a:r>
            <a:endParaRPr lang="en-US" sz="1200" dirty="0"/>
          </a:p>
        </p:txBody>
      </p:sp>
      <p:sp>
        <p:nvSpPr>
          <p:cNvPr id="17" name="Text 13"/>
          <p:cNvSpPr/>
          <p:nvPr/>
        </p:nvSpPr>
        <p:spPr>
          <a:xfrm>
            <a:off x="7348895" y="6495931"/>
            <a:ext cx="4241006" cy="306467"/>
          </a:xfrm>
          <a:prstGeom prst="rect">
            <a:avLst/>
          </a:prstGeom>
          <a:noFill/>
          <a:ln/>
        </p:spPr>
        <p:txBody>
          <a:bodyPr wrap="square" lIns="0" tIns="0" rIns="0" bIns="0" rtlCol="0" anchor="t"/>
          <a:lstStyle/>
          <a:p>
            <a:pPr algn="l" indent="0" marL="0">
              <a:lnSpc>
                <a:spcPts val="1200"/>
              </a:lnSpc>
              <a:buNone/>
            </a:pPr>
            <a:r>
              <a:rPr lang="en-US" sz="950" dirty="0">
                <a:solidFill>
                  <a:srgbClr val="151617"/>
                </a:solidFill>
                <a:latin typeface="Inconsolata" pitchFamily="34" charset="0"/>
                <a:ea typeface="Inconsolata" pitchFamily="34" charset="-122"/>
                <a:cs typeface="Inconsolata" pitchFamily="34" charset="-120"/>
              </a:rPr>
              <a:t>Reducir ineficiencias operativas mediante análisis predictivo y prescriptivo</a:t>
            </a:r>
            <a:endParaRPr lang="en-US" sz="950" dirty="0"/>
          </a:p>
        </p:txBody>
      </p:sp>
      <p:sp>
        <p:nvSpPr>
          <p:cNvPr id="18" name="Text 14"/>
          <p:cNvSpPr/>
          <p:nvPr/>
        </p:nvSpPr>
        <p:spPr>
          <a:xfrm>
            <a:off x="3040380" y="6962894"/>
            <a:ext cx="123825" cy="154781"/>
          </a:xfrm>
          <a:prstGeom prst="rect">
            <a:avLst/>
          </a:prstGeom>
          <a:noFill/>
          <a:ln/>
        </p:spPr>
        <p:txBody>
          <a:bodyPr wrap="none" lIns="0" tIns="0" rIns="0" bIns="0" rtlCol="0" anchor="t"/>
          <a:lstStyle/>
          <a:p>
            <a:pPr algn="l" indent="0" marL="0">
              <a:lnSpc>
                <a:spcPts val="1200"/>
              </a:lnSpc>
              <a:buNone/>
            </a:pPr>
            <a:r>
              <a:rPr lang="en-US" sz="950" dirty="0">
                <a:solidFill>
                  <a:srgbClr val="151617"/>
                </a:solidFill>
                <a:latin typeface="Montserrat Light" pitchFamily="34" charset="0"/>
                <a:ea typeface="Montserrat Light" pitchFamily="34" charset="-122"/>
                <a:cs typeface="Montserrat Light" pitchFamily="34" charset="-120"/>
              </a:rPr>
              <a:t>03</a:t>
            </a:r>
            <a:endParaRPr lang="en-US" sz="950" dirty="0"/>
          </a:p>
        </p:txBody>
      </p:sp>
      <p:sp>
        <p:nvSpPr>
          <p:cNvPr id="19" name="Shape 15"/>
          <p:cNvSpPr/>
          <p:nvPr/>
        </p:nvSpPr>
        <p:spPr>
          <a:xfrm>
            <a:off x="3040380" y="7158157"/>
            <a:ext cx="4240887" cy="15240"/>
          </a:xfrm>
          <a:prstGeom prst="rect">
            <a:avLst/>
          </a:prstGeom>
          <a:solidFill>
            <a:srgbClr val="151617"/>
          </a:solidFill>
          <a:ln/>
        </p:spPr>
      </p:sp>
      <p:sp>
        <p:nvSpPr>
          <p:cNvPr id="20" name="Text 16"/>
          <p:cNvSpPr/>
          <p:nvPr/>
        </p:nvSpPr>
        <p:spPr>
          <a:xfrm>
            <a:off x="3040380" y="7250549"/>
            <a:ext cx="2131457" cy="193596"/>
          </a:xfrm>
          <a:prstGeom prst="rect">
            <a:avLst/>
          </a:prstGeom>
          <a:noFill/>
          <a:ln/>
        </p:spPr>
        <p:txBody>
          <a:bodyPr wrap="none" lIns="0" tIns="0" rIns="0" bIns="0" rtlCol="0" anchor="t"/>
          <a:lstStyle/>
          <a:p>
            <a:pPr algn="l" indent="0" marL="0">
              <a:lnSpc>
                <a:spcPts val="1500"/>
              </a:lnSpc>
              <a:buNone/>
            </a:pPr>
            <a:r>
              <a:rPr lang="en-US" sz="1200" b="1" dirty="0">
                <a:solidFill>
                  <a:srgbClr val="151617"/>
                </a:solidFill>
                <a:latin typeface="Montserrat Black" pitchFamily="34" charset="0"/>
                <a:ea typeface="Montserrat Black" pitchFamily="34" charset="-122"/>
                <a:cs typeface="Montserrat Black" pitchFamily="34" charset="-120"/>
              </a:rPr>
              <a:t>Generar impacto medible</a:t>
            </a:r>
            <a:endParaRPr lang="en-US" sz="1200" dirty="0"/>
          </a:p>
        </p:txBody>
      </p:sp>
      <p:sp>
        <p:nvSpPr>
          <p:cNvPr id="21" name="Text 17"/>
          <p:cNvSpPr/>
          <p:nvPr/>
        </p:nvSpPr>
        <p:spPr>
          <a:xfrm>
            <a:off x="3040380" y="7484745"/>
            <a:ext cx="4240887" cy="306467"/>
          </a:xfrm>
          <a:prstGeom prst="rect">
            <a:avLst/>
          </a:prstGeom>
          <a:noFill/>
          <a:ln/>
        </p:spPr>
        <p:txBody>
          <a:bodyPr wrap="square" lIns="0" tIns="0" rIns="0" bIns="0" rtlCol="0" anchor="t"/>
          <a:lstStyle/>
          <a:p>
            <a:pPr algn="l" indent="0" marL="0">
              <a:lnSpc>
                <a:spcPts val="1200"/>
              </a:lnSpc>
              <a:buNone/>
            </a:pPr>
            <a:r>
              <a:rPr lang="en-US" sz="950" dirty="0">
                <a:solidFill>
                  <a:srgbClr val="151617"/>
                </a:solidFill>
                <a:latin typeface="Inconsolata" pitchFamily="34" charset="0"/>
                <a:ea typeface="Inconsolata" pitchFamily="34" charset="-122"/>
                <a:cs typeface="Inconsolata" pitchFamily="34" charset="-120"/>
              </a:rPr>
              <a:t>Aumentar KPIs del cliente en al menos un 20% mediante recomendaciones basadas en evidencia</a:t>
            </a:r>
            <a:endParaRPr lang="en-US" sz="950" dirty="0"/>
          </a:p>
        </p:txBody>
      </p:sp>
      <p:sp>
        <p:nvSpPr>
          <p:cNvPr id="22" name="Text 18"/>
          <p:cNvSpPr/>
          <p:nvPr/>
        </p:nvSpPr>
        <p:spPr>
          <a:xfrm>
            <a:off x="7348895" y="6962894"/>
            <a:ext cx="123825" cy="154781"/>
          </a:xfrm>
          <a:prstGeom prst="rect">
            <a:avLst/>
          </a:prstGeom>
          <a:noFill/>
          <a:ln/>
        </p:spPr>
        <p:txBody>
          <a:bodyPr wrap="none" lIns="0" tIns="0" rIns="0" bIns="0" rtlCol="0" anchor="t"/>
          <a:lstStyle/>
          <a:p>
            <a:pPr algn="l" indent="0" marL="0">
              <a:lnSpc>
                <a:spcPts val="1200"/>
              </a:lnSpc>
              <a:buNone/>
            </a:pPr>
            <a:r>
              <a:rPr lang="en-US" sz="950" dirty="0">
                <a:solidFill>
                  <a:srgbClr val="151617"/>
                </a:solidFill>
                <a:latin typeface="Montserrat Light" pitchFamily="34" charset="0"/>
                <a:ea typeface="Montserrat Light" pitchFamily="34" charset="-122"/>
                <a:cs typeface="Montserrat Light" pitchFamily="34" charset="-120"/>
              </a:rPr>
              <a:t>04</a:t>
            </a:r>
            <a:endParaRPr lang="en-US" sz="950" dirty="0"/>
          </a:p>
        </p:txBody>
      </p:sp>
      <p:sp>
        <p:nvSpPr>
          <p:cNvPr id="23" name="Shape 19"/>
          <p:cNvSpPr/>
          <p:nvPr/>
        </p:nvSpPr>
        <p:spPr>
          <a:xfrm>
            <a:off x="7348895" y="7158157"/>
            <a:ext cx="4241006" cy="15240"/>
          </a:xfrm>
          <a:prstGeom prst="rect">
            <a:avLst/>
          </a:prstGeom>
          <a:solidFill>
            <a:srgbClr val="151617"/>
          </a:solidFill>
          <a:ln/>
        </p:spPr>
      </p:sp>
      <p:sp>
        <p:nvSpPr>
          <p:cNvPr id="24" name="Text 20"/>
          <p:cNvSpPr/>
          <p:nvPr/>
        </p:nvSpPr>
        <p:spPr>
          <a:xfrm>
            <a:off x="7348895" y="7250549"/>
            <a:ext cx="1856661" cy="193596"/>
          </a:xfrm>
          <a:prstGeom prst="rect">
            <a:avLst/>
          </a:prstGeom>
          <a:noFill/>
          <a:ln/>
        </p:spPr>
        <p:txBody>
          <a:bodyPr wrap="none" lIns="0" tIns="0" rIns="0" bIns="0" rtlCol="0" anchor="t"/>
          <a:lstStyle/>
          <a:p>
            <a:pPr algn="l" indent="0" marL="0">
              <a:lnSpc>
                <a:spcPts val="1500"/>
              </a:lnSpc>
              <a:buNone/>
            </a:pPr>
            <a:r>
              <a:rPr lang="en-US" sz="1200" b="1" dirty="0">
                <a:solidFill>
                  <a:srgbClr val="151617"/>
                </a:solidFill>
                <a:latin typeface="Montserrat Black" pitchFamily="34" charset="0"/>
                <a:ea typeface="Montserrat Black" pitchFamily="34" charset="-122"/>
                <a:cs typeface="Montserrat Black" pitchFamily="34" charset="-120"/>
              </a:rPr>
              <a:t>Democratizar insights</a:t>
            </a:r>
            <a:endParaRPr lang="en-US" sz="1200" dirty="0"/>
          </a:p>
        </p:txBody>
      </p:sp>
      <p:sp>
        <p:nvSpPr>
          <p:cNvPr id="25" name="Text 21"/>
          <p:cNvSpPr/>
          <p:nvPr/>
        </p:nvSpPr>
        <p:spPr>
          <a:xfrm>
            <a:off x="7348895" y="7484745"/>
            <a:ext cx="4241006" cy="306467"/>
          </a:xfrm>
          <a:prstGeom prst="rect">
            <a:avLst/>
          </a:prstGeom>
          <a:noFill/>
          <a:ln/>
        </p:spPr>
        <p:txBody>
          <a:bodyPr wrap="square" lIns="0" tIns="0" rIns="0" bIns="0" rtlCol="0" anchor="t"/>
          <a:lstStyle/>
          <a:p>
            <a:pPr algn="l" indent="0" marL="0">
              <a:lnSpc>
                <a:spcPts val="1200"/>
              </a:lnSpc>
              <a:buNone/>
            </a:pPr>
            <a:r>
              <a:rPr lang="en-US" sz="950" dirty="0">
                <a:solidFill>
                  <a:srgbClr val="151617"/>
                </a:solidFill>
                <a:latin typeface="Inconsolata" pitchFamily="34" charset="0"/>
                <a:ea typeface="Inconsolata" pitchFamily="34" charset="-122"/>
                <a:cs typeface="Inconsolata" pitchFamily="34" charset="-120"/>
              </a:rPr>
              <a:t>Crear dashboards interactivos accesibles para todos los niveles de la organización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7481" y="519708"/>
            <a:ext cx="1510903" cy="334804"/>
          </a:xfrm>
          <a:prstGeom prst="roundRect">
            <a:avLst>
              <a:gd name="adj" fmla="val 2731"/>
            </a:avLst>
          </a:prstGeom>
          <a:solidFill>
            <a:srgbClr val="E4E6E7"/>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0828" y="611505"/>
            <a:ext cx="151090" cy="151090"/>
          </a:xfrm>
          <a:prstGeom prst="rect">
            <a:avLst/>
          </a:prstGeom>
        </p:spPr>
      </p:pic>
      <p:sp>
        <p:nvSpPr>
          <p:cNvPr id="4" name="Text 1"/>
          <p:cNvSpPr/>
          <p:nvPr/>
        </p:nvSpPr>
        <p:spPr>
          <a:xfrm>
            <a:off x="1137404" y="576382"/>
            <a:ext cx="1057632" cy="221456"/>
          </a:xfrm>
          <a:prstGeom prst="rect">
            <a:avLst/>
          </a:prstGeom>
          <a:noFill/>
          <a:ln/>
        </p:spPr>
        <p:txBody>
          <a:bodyPr wrap="none" lIns="0" tIns="0" rIns="0" bIns="0" rtlCol="0" anchor="t"/>
          <a:lstStyle/>
          <a:p>
            <a:pPr algn="l" indent="0" marL="0">
              <a:lnSpc>
                <a:spcPts val="1700"/>
              </a:lnSpc>
              <a:buNone/>
            </a:pPr>
            <a:r>
              <a:rPr lang="en-US" sz="1150" dirty="0">
                <a:solidFill>
                  <a:srgbClr val="151617"/>
                </a:solidFill>
                <a:latin typeface="Inconsolata" pitchFamily="34" charset="0"/>
                <a:ea typeface="Inconsolata" pitchFamily="34" charset="-122"/>
                <a:cs typeface="Inconsolata" pitchFamily="34" charset="-120"/>
              </a:rPr>
              <a:t>NUESTRO EQUIPO</a:t>
            </a:r>
            <a:endParaRPr lang="en-US" sz="1150" dirty="0"/>
          </a:p>
        </p:txBody>
      </p:sp>
      <p:sp>
        <p:nvSpPr>
          <p:cNvPr id="5" name="Text 2"/>
          <p:cNvSpPr/>
          <p:nvPr/>
        </p:nvSpPr>
        <p:spPr>
          <a:xfrm>
            <a:off x="797481" y="917377"/>
            <a:ext cx="7501890" cy="590312"/>
          </a:xfrm>
          <a:prstGeom prst="rect">
            <a:avLst/>
          </a:prstGeom>
          <a:noFill/>
          <a:ln/>
        </p:spPr>
        <p:txBody>
          <a:bodyPr wrap="none" lIns="0" tIns="0" rIns="0" bIns="0" rtlCol="0" anchor="t"/>
          <a:lstStyle/>
          <a:p>
            <a:pPr algn="l" indent="0" marL="0">
              <a:lnSpc>
                <a:spcPts val="4600"/>
              </a:lnSpc>
              <a:buNone/>
            </a:pPr>
            <a:r>
              <a:rPr lang="en-US" sz="3700" b="1" dirty="0">
                <a:solidFill>
                  <a:srgbClr val="151617"/>
                </a:solidFill>
                <a:latin typeface="Montserrat Black" pitchFamily="34" charset="0"/>
                <a:ea typeface="Montserrat Black" pitchFamily="34" charset="-122"/>
                <a:cs typeface="Montserrat Black" pitchFamily="34" charset="-120"/>
              </a:rPr>
              <a:t>Lo que esperan de nosotras…</a:t>
            </a:r>
            <a:endParaRPr lang="en-US" sz="3700" dirty="0"/>
          </a:p>
        </p:txBody>
      </p:sp>
      <p:pic>
        <p:nvPicPr>
          <p:cNvPr id="6" name="Image 1" descr="preencoded.png">    </p:cNvPr>
          <p:cNvPicPr>
            <a:picLocks noChangeAspect="1"/>
          </p:cNvPicPr>
          <p:nvPr/>
        </p:nvPicPr>
        <p:blipFill>
          <a:blip r:embed="rId3"/>
          <a:stretch>
            <a:fillRect/>
          </a:stretch>
        </p:blipFill>
        <p:spPr>
          <a:xfrm>
            <a:off x="797481" y="1920597"/>
            <a:ext cx="5612368" cy="5612368"/>
          </a:xfrm>
          <a:prstGeom prst="rect">
            <a:avLst/>
          </a:prstGeom>
        </p:spPr>
      </p:pic>
      <p:sp>
        <p:nvSpPr>
          <p:cNvPr id="7" name="Shape 3"/>
          <p:cNvSpPr/>
          <p:nvPr/>
        </p:nvSpPr>
        <p:spPr>
          <a:xfrm>
            <a:off x="6878241" y="1920597"/>
            <a:ext cx="3402330" cy="1399342"/>
          </a:xfrm>
          <a:prstGeom prst="roundRect">
            <a:avLst>
              <a:gd name="adj" fmla="val 653"/>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8" name="Text 4"/>
          <p:cNvSpPr/>
          <p:nvPr/>
        </p:nvSpPr>
        <p:spPr>
          <a:xfrm>
            <a:off x="7074694" y="2117050"/>
            <a:ext cx="2361486" cy="295037"/>
          </a:xfrm>
          <a:prstGeom prst="rect">
            <a:avLst/>
          </a:prstGeom>
          <a:noFill/>
          <a:ln/>
        </p:spPr>
        <p:txBody>
          <a:bodyPr wrap="none" lIns="0" tIns="0" rIns="0" bIns="0" rtlCol="0" anchor="t"/>
          <a:lstStyle/>
          <a:p>
            <a:pPr algn="l" indent="0" marL="0">
              <a:lnSpc>
                <a:spcPts val="2300"/>
              </a:lnSpc>
              <a:buNone/>
            </a:pPr>
            <a:r>
              <a:rPr lang="en-US" sz="1850" b="1" dirty="0">
                <a:solidFill>
                  <a:srgbClr val="151617"/>
                </a:solidFill>
                <a:latin typeface="Montserrat Black" pitchFamily="34" charset="0"/>
                <a:ea typeface="Montserrat Black" pitchFamily="34" charset="-122"/>
                <a:cs typeface="Montserrat Black" pitchFamily="34" charset="-120"/>
              </a:rPr>
              <a:t>Fase 1</a:t>
            </a:r>
            <a:endParaRPr lang="en-US" sz="1850" dirty="0"/>
          </a:p>
        </p:txBody>
      </p:sp>
      <p:sp>
        <p:nvSpPr>
          <p:cNvPr id="9" name="Text 5"/>
          <p:cNvSpPr/>
          <p:nvPr/>
        </p:nvSpPr>
        <p:spPr>
          <a:xfrm>
            <a:off x="7074694" y="2569369"/>
            <a:ext cx="3009424" cy="554117"/>
          </a:xfrm>
          <a:prstGeom prst="rect">
            <a:avLst/>
          </a:prstGeom>
          <a:noFill/>
          <a:ln/>
        </p:spPr>
        <p:txBody>
          <a:bodyPr wrap="square" lIns="0" tIns="0" rIns="0" bIns="0" rtlCol="0" anchor="t"/>
          <a:lstStyle/>
          <a:p>
            <a:pPr algn="l" indent="0" marL="0">
              <a:lnSpc>
                <a:spcPts val="2150"/>
              </a:lnSpc>
              <a:buNone/>
            </a:pPr>
            <a:r>
              <a:rPr lang="en-US" sz="1450" dirty="0">
                <a:solidFill>
                  <a:srgbClr val="151617"/>
                </a:solidFill>
                <a:latin typeface="Inconsolata" pitchFamily="34" charset="0"/>
                <a:ea typeface="Inconsolata" pitchFamily="34" charset="-122"/>
                <a:cs typeface="Inconsolata" pitchFamily="34" charset="-120"/>
              </a:rPr>
              <a:t>Análisis Exploratorio de los datos (EDA)</a:t>
            </a:r>
            <a:endParaRPr lang="en-US" sz="1450" dirty="0"/>
          </a:p>
        </p:txBody>
      </p:sp>
      <p:sp>
        <p:nvSpPr>
          <p:cNvPr id="10" name="Shape 6"/>
          <p:cNvSpPr/>
          <p:nvPr/>
        </p:nvSpPr>
        <p:spPr>
          <a:xfrm>
            <a:off x="10437852" y="1920597"/>
            <a:ext cx="3402449" cy="1399342"/>
          </a:xfrm>
          <a:prstGeom prst="roundRect">
            <a:avLst>
              <a:gd name="adj" fmla="val 653"/>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11" name="Text 7"/>
          <p:cNvSpPr/>
          <p:nvPr/>
        </p:nvSpPr>
        <p:spPr>
          <a:xfrm>
            <a:off x="10634305" y="2117050"/>
            <a:ext cx="2361486" cy="295037"/>
          </a:xfrm>
          <a:prstGeom prst="rect">
            <a:avLst/>
          </a:prstGeom>
          <a:noFill/>
          <a:ln/>
        </p:spPr>
        <p:txBody>
          <a:bodyPr wrap="none" lIns="0" tIns="0" rIns="0" bIns="0" rtlCol="0" anchor="t"/>
          <a:lstStyle/>
          <a:p>
            <a:pPr algn="l" indent="0" marL="0">
              <a:lnSpc>
                <a:spcPts val="2300"/>
              </a:lnSpc>
              <a:buNone/>
            </a:pPr>
            <a:r>
              <a:rPr lang="en-US" sz="1850" b="1" dirty="0">
                <a:solidFill>
                  <a:srgbClr val="151617"/>
                </a:solidFill>
                <a:latin typeface="Montserrat Black" pitchFamily="34" charset="0"/>
                <a:ea typeface="Montserrat Black" pitchFamily="34" charset="-122"/>
                <a:cs typeface="Montserrat Black" pitchFamily="34" charset="-120"/>
              </a:rPr>
              <a:t>Fase 2</a:t>
            </a:r>
            <a:endParaRPr lang="en-US" sz="1850" dirty="0"/>
          </a:p>
        </p:txBody>
      </p:sp>
      <p:sp>
        <p:nvSpPr>
          <p:cNvPr id="12" name="Text 8"/>
          <p:cNvSpPr/>
          <p:nvPr/>
        </p:nvSpPr>
        <p:spPr>
          <a:xfrm>
            <a:off x="10634305" y="2569369"/>
            <a:ext cx="3009543" cy="277058"/>
          </a:xfrm>
          <a:prstGeom prst="rect">
            <a:avLst/>
          </a:prstGeom>
          <a:noFill/>
          <a:ln/>
        </p:spPr>
        <p:txBody>
          <a:bodyPr wrap="none" lIns="0" tIns="0" rIns="0" bIns="0" rtlCol="0" anchor="t"/>
          <a:lstStyle/>
          <a:p>
            <a:pPr algn="l" indent="0" marL="0">
              <a:lnSpc>
                <a:spcPts val="2150"/>
              </a:lnSpc>
              <a:buNone/>
            </a:pPr>
            <a:r>
              <a:rPr lang="en-US" sz="1450" dirty="0">
                <a:solidFill>
                  <a:srgbClr val="151617"/>
                </a:solidFill>
                <a:latin typeface="Inconsolata" pitchFamily="34" charset="0"/>
                <a:ea typeface="Inconsolata" pitchFamily="34" charset="-122"/>
                <a:cs typeface="Inconsolata" pitchFamily="34" charset="-120"/>
              </a:rPr>
              <a:t>Transformación de los datos</a:t>
            </a:r>
            <a:endParaRPr lang="en-US" sz="1450" dirty="0"/>
          </a:p>
        </p:txBody>
      </p:sp>
      <p:sp>
        <p:nvSpPr>
          <p:cNvPr id="13" name="Shape 9"/>
          <p:cNvSpPr/>
          <p:nvPr/>
        </p:nvSpPr>
        <p:spPr>
          <a:xfrm>
            <a:off x="6878241" y="3477220"/>
            <a:ext cx="3402330" cy="1399342"/>
          </a:xfrm>
          <a:prstGeom prst="roundRect">
            <a:avLst>
              <a:gd name="adj" fmla="val 653"/>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14" name="Text 10"/>
          <p:cNvSpPr/>
          <p:nvPr/>
        </p:nvSpPr>
        <p:spPr>
          <a:xfrm>
            <a:off x="7074694" y="3673673"/>
            <a:ext cx="2361486" cy="295037"/>
          </a:xfrm>
          <a:prstGeom prst="rect">
            <a:avLst/>
          </a:prstGeom>
          <a:noFill/>
          <a:ln/>
        </p:spPr>
        <p:txBody>
          <a:bodyPr wrap="none" lIns="0" tIns="0" rIns="0" bIns="0" rtlCol="0" anchor="t"/>
          <a:lstStyle/>
          <a:p>
            <a:pPr algn="l" indent="0" marL="0">
              <a:lnSpc>
                <a:spcPts val="2300"/>
              </a:lnSpc>
              <a:buNone/>
            </a:pPr>
            <a:r>
              <a:rPr lang="en-US" sz="1850" b="1" dirty="0">
                <a:solidFill>
                  <a:srgbClr val="151617"/>
                </a:solidFill>
                <a:latin typeface="Montserrat Black" pitchFamily="34" charset="0"/>
                <a:ea typeface="Montserrat Black" pitchFamily="34" charset="-122"/>
                <a:cs typeface="Montserrat Black" pitchFamily="34" charset="-120"/>
              </a:rPr>
              <a:t>Fase 3</a:t>
            </a:r>
            <a:endParaRPr lang="en-US" sz="1850" dirty="0"/>
          </a:p>
        </p:txBody>
      </p:sp>
      <p:sp>
        <p:nvSpPr>
          <p:cNvPr id="15" name="Text 11"/>
          <p:cNvSpPr/>
          <p:nvPr/>
        </p:nvSpPr>
        <p:spPr>
          <a:xfrm>
            <a:off x="7074694" y="4125992"/>
            <a:ext cx="3009424" cy="277058"/>
          </a:xfrm>
          <a:prstGeom prst="rect">
            <a:avLst/>
          </a:prstGeom>
          <a:noFill/>
          <a:ln/>
        </p:spPr>
        <p:txBody>
          <a:bodyPr wrap="none" lIns="0" tIns="0" rIns="0" bIns="0" rtlCol="0" anchor="t"/>
          <a:lstStyle/>
          <a:p>
            <a:pPr algn="l" indent="0" marL="0">
              <a:lnSpc>
                <a:spcPts val="2150"/>
              </a:lnSpc>
              <a:buNone/>
            </a:pPr>
            <a:r>
              <a:rPr lang="en-US" sz="1450" dirty="0">
                <a:solidFill>
                  <a:srgbClr val="151617"/>
                </a:solidFill>
                <a:latin typeface="Inconsolata" pitchFamily="34" charset="0"/>
                <a:ea typeface="Inconsolata" pitchFamily="34" charset="-122"/>
                <a:cs typeface="Inconsolata" pitchFamily="34" charset="-120"/>
              </a:rPr>
              <a:t>Visualización de datos</a:t>
            </a:r>
            <a:endParaRPr lang="en-US" sz="1450" dirty="0"/>
          </a:p>
        </p:txBody>
      </p:sp>
      <p:sp>
        <p:nvSpPr>
          <p:cNvPr id="16" name="Shape 12"/>
          <p:cNvSpPr/>
          <p:nvPr/>
        </p:nvSpPr>
        <p:spPr>
          <a:xfrm>
            <a:off x="10437852" y="3477220"/>
            <a:ext cx="3402449" cy="1399342"/>
          </a:xfrm>
          <a:prstGeom prst="roundRect">
            <a:avLst>
              <a:gd name="adj" fmla="val 653"/>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17" name="Text 13"/>
          <p:cNvSpPr/>
          <p:nvPr/>
        </p:nvSpPr>
        <p:spPr>
          <a:xfrm>
            <a:off x="10634305" y="3673673"/>
            <a:ext cx="2361486" cy="295037"/>
          </a:xfrm>
          <a:prstGeom prst="rect">
            <a:avLst/>
          </a:prstGeom>
          <a:noFill/>
          <a:ln/>
        </p:spPr>
        <p:txBody>
          <a:bodyPr wrap="none" lIns="0" tIns="0" rIns="0" bIns="0" rtlCol="0" anchor="t"/>
          <a:lstStyle/>
          <a:p>
            <a:pPr algn="l" indent="0" marL="0">
              <a:lnSpc>
                <a:spcPts val="2300"/>
              </a:lnSpc>
              <a:buNone/>
            </a:pPr>
            <a:r>
              <a:rPr lang="en-US" sz="1850" b="1" dirty="0">
                <a:solidFill>
                  <a:srgbClr val="151617"/>
                </a:solidFill>
                <a:latin typeface="Montserrat Black" pitchFamily="34" charset="0"/>
                <a:ea typeface="Montserrat Black" pitchFamily="34" charset="-122"/>
                <a:cs typeface="Montserrat Black" pitchFamily="34" charset="-120"/>
              </a:rPr>
              <a:t>Fase 4</a:t>
            </a:r>
            <a:endParaRPr lang="en-US" sz="1850" dirty="0"/>
          </a:p>
        </p:txBody>
      </p:sp>
      <p:sp>
        <p:nvSpPr>
          <p:cNvPr id="18" name="Text 14"/>
          <p:cNvSpPr/>
          <p:nvPr/>
        </p:nvSpPr>
        <p:spPr>
          <a:xfrm>
            <a:off x="10634305" y="4125992"/>
            <a:ext cx="3009543" cy="554117"/>
          </a:xfrm>
          <a:prstGeom prst="rect">
            <a:avLst/>
          </a:prstGeom>
          <a:noFill/>
          <a:ln/>
        </p:spPr>
        <p:txBody>
          <a:bodyPr wrap="square" lIns="0" tIns="0" rIns="0" bIns="0" rtlCol="0" anchor="t"/>
          <a:lstStyle/>
          <a:p>
            <a:pPr algn="l" indent="0" marL="0">
              <a:lnSpc>
                <a:spcPts val="2150"/>
              </a:lnSpc>
              <a:buNone/>
            </a:pPr>
            <a:r>
              <a:rPr lang="en-US" sz="1450" dirty="0">
                <a:solidFill>
                  <a:srgbClr val="151617"/>
                </a:solidFill>
                <a:latin typeface="Inconsolata" pitchFamily="34" charset="0"/>
                <a:ea typeface="Inconsolata" pitchFamily="34" charset="-122"/>
                <a:cs typeface="Inconsolata" pitchFamily="34" charset="-120"/>
              </a:rPr>
              <a:t>Diseño de BBDD e Inserción de los datos</a:t>
            </a:r>
            <a:endParaRPr lang="en-US" sz="1450" dirty="0"/>
          </a:p>
        </p:txBody>
      </p:sp>
      <p:sp>
        <p:nvSpPr>
          <p:cNvPr id="19" name="Shape 15"/>
          <p:cNvSpPr/>
          <p:nvPr/>
        </p:nvSpPr>
        <p:spPr>
          <a:xfrm>
            <a:off x="6878241" y="5033843"/>
            <a:ext cx="6962061" cy="1540907"/>
          </a:xfrm>
          <a:prstGeom prst="roundRect">
            <a:avLst>
              <a:gd name="adj" fmla="val 593"/>
            </a:avLst>
          </a:prstGeom>
          <a:solidFill>
            <a:srgbClr val="F8ECE4"/>
          </a:solidFill>
          <a:ln w="7620">
            <a:solidFill>
              <a:srgbClr val="151617"/>
            </a:solidFill>
            <a:prstDash val="solid"/>
          </a:ln>
          <a:effectLst>
            <a:outerShdw sx="100000" sy="100000" kx="0" ky="0" algn="bl" rotWithShape="0" blurRad="0" dist="16510" dir="2700000">
              <a:srgbClr val="151617">
                <a:alpha val="100000"/>
              </a:srgbClr>
            </a:outerShdw>
          </a:effectLst>
        </p:spPr>
      </p:sp>
      <p:sp>
        <p:nvSpPr>
          <p:cNvPr id="20" name="Text 16"/>
          <p:cNvSpPr/>
          <p:nvPr/>
        </p:nvSpPr>
        <p:spPr>
          <a:xfrm>
            <a:off x="7074694" y="5230297"/>
            <a:ext cx="2361486" cy="295037"/>
          </a:xfrm>
          <a:prstGeom prst="rect">
            <a:avLst/>
          </a:prstGeom>
          <a:noFill/>
          <a:ln/>
        </p:spPr>
        <p:txBody>
          <a:bodyPr wrap="none" lIns="0" tIns="0" rIns="0" bIns="0" rtlCol="0" anchor="t"/>
          <a:lstStyle/>
          <a:p>
            <a:pPr algn="l" indent="0" marL="0">
              <a:lnSpc>
                <a:spcPts val="2300"/>
              </a:lnSpc>
              <a:buNone/>
            </a:pPr>
            <a:r>
              <a:rPr lang="en-US" sz="1850" b="1" dirty="0">
                <a:solidFill>
                  <a:srgbClr val="151617"/>
                </a:solidFill>
                <a:latin typeface="Montserrat Black" pitchFamily="34" charset="0"/>
                <a:ea typeface="Montserrat Black" pitchFamily="34" charset="-122"/>
                <a:cs typeface="Montserrat Black" pitchFamily="34" charset="-120"/>
              </a:rPr>
              <a:t>Fase 5</a:t>
            </a:r>
            <a:endParaRPr lang="en-US" sz="1850" dirty="0"/>
          </a:p>
        </p:txBody>
      </p:sp>
      <p:sp>
        <p:nvSpPr>
          <p:cNvPr id="21" name="Text 17"/>
          <p:cNvSpPr/>
          <p:nvPr/>
        </p:nvSpPr>
        <p:spPr>
          <a:xfrm>
            <a:off x="7074694" y="5682615"/>
            <a:ext cx="6569154" cy="277058"/>
          </a:xfrm>
          <a:prstGeom prst="rect">
            <a:avLst/>
          </a:prstGeom>
          <a:noFill/>
          <a:ln/>
        </p:spPr>
        <p:txBody>
          <a:bodyPr wrap="none" lIns="0" tIns="0" rIns="0" bIns="0" rtlCol="0" anchor="t"/>
          <a:lstStyle/>
          <a:p>
            <a:pPr algn="l" indent="0" marL="0">
              <a:lnSpc>
                <a:spcPts val="2150"/>
              </a:lnSpc>
              <a:buNone/>
            </a:pPr>
            <a:r>
              <a:rPr lang="en-US" sz="1450" dirty="0">
                <a:solidFill>
                  <a:srgbClr val="151617"/>
                </a:solidFill>
                <a:latin typeface="Inconsolata" pitchFamily="34" charset="0"/>
                <a:ea typeface="Inconsolata" pitchFamily="34" charset="-122"/>
                <a:cs typeface="Inconsolata" pitchFamily="34" charset="-120"/>
              </a:rPr>
              <a:t>Creación de una ETL</a:t>
            </a:r>
            <a:endParaRPr lang="en-US" sz="1450" dirty="0"/>
          </a:p>
        </p:txBody>
      </p:sp>
      <p:sp>
        <p:nvSpPr>
          <p:cNvPr id="22" name="Text 18"/>
          <p:cNvSpPr/>
          <p:nvPr/>
        </p:nvSpPr>
        <p:spPr>
          <a:xfrm>
            <a:off x="7074694" y="6101239"/>
            <a:ext cx="6569154" cy="277058"/>
          </a:xfrm>
          <a:prstGeom prst="rect">
            <a:avLst/>
          </a:prstGeom>
          <a:noFill/>
          <a:ln/>
        </p:spPr>
        <p:txBody>
          <a:bodyPr wrap="none" lIns="0" tIns="0" rIns="0" bIns="0" rtlCol="0" anchor="t"/>
          <a:lstStyle/>
          <a:p>
            <a:pPr algn="l" indent="0" marL="0">
              <a:lnSpc>
                <a:spcPts val="2150"/>
              </a:lnSpc>
              <a:buNone/>
            </a:pP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22828" y="755571"/>
            <a:ext cx="2327077" cy="391597"/>
          </a:xfrm>
          <a:prstGeom prst="roundRect">
            <a:avLst>
              <a:gd name="adj" fmla="val 2335"/>
            </a:avLst>
          </a:prstGeom>
          <a:noFill/>
          <a:ln w="7620">
            <a:solidFill>
              <a:srgbClr val="151617"/>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4273" y="868799"/>
            <a:ext cx="165140" cy="165140"/>
          </a:xfrm>
          <a:prstGeom prst="rect">
            <a:avLst/>
          </a:prstGeom>
        </p:spPr>
      </p:pic>
      <p:sp>
        <p:nvSpPr>
          <p:cNvPr id="4" name="Text 1"/>
          <p:cNvSpPr/>
          <p:nvPr/>
        </p:nvSpPr>
        <p:spPr>
          <a:xfrm>
            <a:off x="1101923" y="825103"/>
            <a:ext cx="1816537" cy="252532"/>
          </a:xfrm>
          <a:prstGeom prst="rect">
            <a:avLst/>
          </a:prstGeom>
          <a:noFill/>
          <a:ln/>
        </p:spPr>
        <p:txBody>
          <a:bodyPr wrap="none" lIns="0" tIns="0" rIns="0" bIns="0" rtlCol="0" anchor="t"/>
          <a:lstStyle/>
          <a:p>
            <a:pPr algn="l" indent="0" marL="0">
              <a:lnSpc>
                <a:spcPts val="1950"/>
              </a:lnSpc>
              <a:buNone/>
            </a:pPr>
            <a:r>
              <a:rPr lang="en-US" sz="1300" dirty="0">
                <a:solidFill>
                  <a:srgbClr val="151617"/>
                </a:solidFill>
                <a:latin typeface="Inconsolata" pitchFamily="34" charset="0"/>
                <a:ea typeface="Inconsolata" pitchFamily="34" charset="-122"/>
                <a:cs typeface="Inconsolata" pitchFamily="34" charset="-120"/>
              </a:rPr>
              <a:t>TECNOLOGÍA Y OBJETIVOS</a:t>
            </a:r>
            <a:endParaRPr lang="en-US" sz="1300" dirty="0"/>
          </a:p>
        </p:txBody>
      </p:sp>
      <p:sp>
        <p:nvSpPr>
          <p:cNvPr id="5" name="Text 2"/>
          <p:cNvSpPr/>
          <p:nvPr/>
        </p:nvSpPr>
        <p:spPr>
          <a:xfrm>
            <a:off x="722828" y="1222296"/>
            <a:ext cx="10859453" cy="645438"/>
          </a:xfrm>
          <a:prstGeom prst="rect">
            <a:avLst/>
          </a:prstGeom>
          <a:noFill/>
          <a:ln/>
        </p:spPr>
        <p:txBody>
          <a:bodyPr wrap="none" lIns="0" tIns="0" rIns="0" bIns="0" rtlCol="0" anchor="t"/>
          <a:lstStyle/>
          <a:p>
            <a:pPr algn="l" indent="0" marL="0">
              <a:lnSpc>
                <a:spcPts val="5050"/>
              </a:lnSpc>
              <a:buNone/>
            </a:pPr>
            <a:r>
              <a:rPr lang="en-US" sz="4050" b="1" dirty="0">
                <a:solidFill>
                  <a:srgbClr val="151617"/>
                </a:solidFill>
                <a:latin typeface="Montserrat Black" pitchFamily="34" charset="0"/>
                <a:ea typeface="Montserrat Black" pitchFamily="34" charset="-122"/>
                <a:cs typeface="Montserrat Black" pitchFamily="34" charset="-120"/>
              </a:rPr>
              <a:t>Metodología y Herramientas Utilizadas</a:t>
            </a:r>
            <a:endParaRPr lang="en-US" sz="4050" dirty="0"/>
          </a:p>
        </p:txBody>
      </p:sp>
      <p:pic>
        <p:nvPicPr>
          <p:cNvPr id="6" name="Image 1" descr="preencoded.png">    </p:cNvPr>
          <p:cNvPicPr>
            <a:picLocks noChangeAspect="1"/>
          </p:cNvPicPr>
          <p:nvPr/>
        </p:nvPicPr>
        <p:blipFill>
          <a:blip r:embed="rId3"/>
          <a:stretch>
            <a:fillRect/>
          </a:stretch>
        </p:blipFill>
        <p:spPr>
          <a:xfrm>
            <a:off x="722828" y="2149793"/>
            <a:ext cx="1809512" cy="1809512"/>
          </a:xfrm>
          <a:prstGeom prst="rect">
            <a:avLst/>
          </a:prstGeom>
        </p:spPr>
      </p:pic>
      <p:sp>
        <p:nvSpPr>
          <p:cNvPr id="7" name="Text 3"/>
          <p:cNvSpPr/>
          <p:nvPr/>
        </p:nvSpPr>
        <p:spPr>
          <a:xfrm>
            <a:off x="722828" y="4194334"/>
            <a:ext cx="2581870" cy="322778"/>
          </a:xfrm>
          <a:prstGeom prst="rect">
            <a:avLst/>
          </a:prstGeom>
          <a:noFill/>
          <a:ln/>
        </p:spPr>
        <p:txBody>
          <a:bodyPr wrap="none" lIns="0" tIns="0" rIns="0" bIns="0" rtlCol="0" anchor="t"/>
          <a:lstStyle/>
          <a:p>
            <a:pPr algn="l" indent="0" marL="0">
              <a:lnSpc>
                <a:spcPts val="2500"/>
              </a:lnSpc>
              <a:buNone/>
            </a:pPr>
            <a:r>
              <a:rPr lang="en-US" sz="2000" b="1" dirty="0">
                <a:solidFill>
                  <a:srgbClr val="151617"/>
                </a:solidFill>
                <a:latin typeface="Montserrat Black" pitchFamily="34" charset="0"/>
                <a:ea typeface="Montserrat Black" pitchFamily="34" charset="-122"/>
                <a:cs typeface="Montserrat Black" pitchFamily="34" charset="-120"/>
              </a:rPr>
              <a:t>Metodología Agile</a:t>
            </a:r>
            <a:endParaRPr lang="en-US" sz="2000" dirty="0"/>
          </a:p>
        </p:txBody>
      </p:sp>
      <p:sp>
        <p:nvSpPr>
          <p:cNvPr id="8" name="Text 4"/>
          <p:cNvSpPr/>
          <p:nvPr/>
        </p:nvSpPr>
        <p:spPr>
          <a:xfrm>
            <a:off x="722828" y="4629864"/>
            <a:ext cx="3119914" cy="946904"/>
          </a:xfrm>
          <a:prstGeom prst="rect">
            <a:avLst/>
          </a:prstGeom>
          <a:noFill/>
          <a:ln/>
        </p:spPr>
        <p:txBody>
          <a:bodyPr wrap="square" lIns="0" tIns="0" rIns="0" bIns="0" rtlCol="0" anchor="t"/>
          <a:lstStyle/>
          <a:p>
            <a:pPr algn="l" indent="0" marL="0">
              <a:lnSpc>
                <a:spcPts val="2450"/>
              </a:lnSpc>
              <a:buNone/>
            </a:pPr>
            <a:r>
              <a:rPr lang="en-US" sz="1600" dirty="0">
                <a:solidFill>
                  <a:srgbClr val="151617"/>
                </a:solidFill>
                <a:latin typeface="Inconsolata" pitchFamily="34" charset="0"/>
                <a:ea typeface="Inconsolata" pitchFamily="34" charset="-122"/>
                <a:cs typeface="Inconsolata" pitchFamily="34" charset="-120"/>
              </a:rPr>
              <a:t>Implementar esta metodología mediante dailys, sprint reviews, scrum masters...</a:t>
            </a:r>
            <a:endParaRPr lang="en-US" sz="1600" dirty="0"/>
          </a:p>
        </p:txBody>
      </p:sp>
      <p:pic>
        <p:nvPicPr>
          <p:cNvPr id="9" name="Image 2" descr="preencoded.png">    </p:cNvPr>
          <p:cNvPicPr>
            <a:picLocks noChangeAspect="1"/>
          </p:cNvPicPr>
          <p:nvPr/>
        </p:nvPicPr>
        <p:blipFill>
          <a:blip r:embed="rId4"/>
          <a:stretch>
            <a:fillRect/>
          </a:stretch>
        </p:blipFill>
        <p:spPr>
          <a:xfrm>
            <a:off x="4077772" y="2149793"/>
            <a:ext cx="1809512" cy="1809512"/>
          </a:xfrm>
          <a:prstGeom prst="rect">
            <a:avLst/>
          </a:prstGeom>
        </p:spPr>
      </p:pic>
      <p:sp>
        <p:nvSpPr>
          <p:cNvPr id="10" name="Text 5"/>
          <p:cNvSpPr/>
          <p:nvPr/>
        </p:nvSpPr>
        <p:spPr>
          <a:xfrm>
            <a:off x="4077772" y="4194334"/>
            <a:ext cx="2581870" cy="322778"/>
          </a:xfrm>
          <a:prstGeom prst="rect">
            <a:avLst/>
          </a:prstGeom>
          <a:noFill/>
          <a:ln/>
        </p:spPr>
        <p:txBody>
          <a:bodyPr wrap="none" lIns="0" tIns="0" rIns="0" bIns="0" rtlCol="0" anchor="t"/>
          <a:lstStyle/>
          <a:p>
            <a:pPr algn="l" indent="0" marL="0">
              <a:lnSpc>
                <a:spcPts val="2500"/>
              </a:lnSpc>
              <a:buNone/>
            </a:pPr>
            <a:r>
              <a:rPr lang="en-US" sz="2000" b="1" dirty="0">
                <a:solidFill>
                  <a:srgbClr val="151617"/>
                </a:solidFill>
                <a:latin typeface="Montserrat Black" pitchFamily="34" charset="0"/>
                <a:ea typeface="Montserrat Black" pitchFamily="34" charset="-122"/>
                <a:cs typeface="Montserrat Black" pitchFamily="34" charset="-120"/>
              </a:rPr>
              <a:t>Python &amp; Pandas</a:t>
            </a:r>
            <a:endParaRPr lang="en-US" sz="2000" dirty="0"/>
          </a:p>
        </p:txBody>
      </p:sp>
      <p:sp>
        <p:nvSpPr>
          <p:cNvPr id="11" name="Text 6"/>
          <p:cNvSpPr/>
          <p:nvPr/>
        </p:nvSpPr>
        <p:spPr>
          <a:xfrm>
            <a:off x="4077772" y="4629864"/>
            <a:ext cx="3119914" cy="1578173"/>
          </a:xfrm>
          <a:prstGeom prst="rect">
            <a:avLst/>
          </a:prstGeom>
          <a:noFill/>
          <a:ln/>
        </p:spPr>
        <p:txBody>
          <a:bodyPr wrap="square" lIns="0" tIns="0" rIns="0" bIns="0" rtlCol="0" anchor="t"/>
          <a:lstStyle/>
          <a:p>
            <a:pPr algn="l" indent="0" marL="0">
              <a:lnSpc>
                <a:spcPts val="2450"/>
              </a:lnSpc>
              <a:buNone/>
            </a:pPr>
            <a:r>
              <a:rPr lang="en-US" sz="1600" dirty="0">
                <a:solidFill>
                  <a:srgbClr val="151617"/>
                </a:solidFill>
                <a:latin typeface="Inconsolata" pitchFamily="34" charset="0"/>
                <a:ea typeface="Inconsolata" pitchFamily="34" charset="-122"/>
                <a:cs typeface="Inconsolata" pitchFamily="34" charset="-120"/>
              </a:rPr>
              <a:t>Análisis exploratorio, limpieza de datos y modelado estadístico utilizando librerías especializadas como pandas, numpy, matplotlib.</a:t>
            </a:r>
            <a:endParaRPr lang="en-US" sz="1600" dirty="0"/>
          </a:p>
        </p:txBody>
      </p:sp>
      <p:pic>
        <p:nvPicPr>
          <p:cNvPr id="12" name="Image 3" descr="preencoded.png">    </p:cNvPr>
          <p:cNvPicPr>
            <a:picLocks noChangeAspect="1"/>
          </p:cNvPicPr>
          <p:nvPr/>
        </p:nvPicPr>
        <p:blipFill>
          <a:blip r:embed="rId5"/>
          <a:stretch>
            <a:fillRect/>
          </a:stretch>
        </p:blipFill>
        <p:spPr>
          <a:xfrm>
            <a:off x="7432715" y="2149793"/>
            <a:ext cx="1809512" cy="1809512"/>
          </a:xfrm>
          <a:prstGeom prst="rect">
            <a:avLst/>
          </a:prstGeom>
        </p:spPr>
      </p:pic>
      <p:sp>
        <p:nvSpPr>
          <p:cNvPr id="13" name="Text 7"/>
          <p:cNvSpPr/>
          <p:nvPr/>
        </p:nvSpPr>
        <p:spPr>
          <a:xfrm>
            <a:off x="7432715" y="4194334"/>
            <a:ext cx="2581870" cy="322778"/>
          </a:xfrm>
          <a:prstGeom prst="rect">
            <a:avLst/>
          </a:prstGeom>
          <a:noFill/>
          <a:ln/>
        </p:spPr>
        <p:txBody>
          <a:bodyPr wrap="none" lIns="0" tIns="0" rIns="0" bIns="0" rtlCol="0" anchor="t"/>
          <a:lstStyle/>
          <a:p>
            <a:pPr algn="l" indent="0" marL="0">
              <a:lnSpc>
                <a:spcPts val="2500"/>
              </a:lnSpc>
              <a:buNone/>
            </a:pPr>
            <a:r>
              <a:rPr lang="en-US" sz="2000" b="1" dirty="0">
                <a:solidFill>
                  <a:srgbClr val="151617"/>
                </a:solidFill>
                <a:latin typeface="Montserrat Black" pitchFamily="34" charset="0"/>
                <a:ea typeface="Montserrat Black" pitchFamily="34" charset="-122"/>
                <a:cs typeface="Montserrat Black" pitchFamily="34" charset="-120"/>
              </a:rPr>
              <a:t>GitHub</a:t>
            </a:r>
            <a:endParaRPr lang="en-US" sz="2000" dirty="0"/>
          </a:p>
        </p:txBody>
      </p:sp>
      <p:sp>
        <p:nvSpPr>
          <p:cNvPr id="14" name="Text 8"/>
          <p:cNvSpPr/>
          <p:nvPr/>
        </p:nvSpPr>
        <p:spPr>
          <a:xfrm>
            <a:off x="7432715" y="4629864"/>
            <a:ext cx="3119914" cy="946904"/>
          </a:xfrm>
          <a:prstGeom prst="rect">
            <a:avLst/>
          </a:prstGeom>
          <a:noFill/>
          <a:ln/>
        </p:spPr>
        <p:txBody>
          <a:bodyPr wrap="square" lIns="0" tIns="0" rIns="0" bIns="0" rtlCol="0" anchor="t"/>
          <a:lstStyle/>
          <a:p>
            <a:pPr algn="l" indent="0" marL="0">
              <a:lnSpc>
                <a:spcPts val="2450"/>
              </a:lnSpc>
              <a:buNone/>
            </a:pPr>
            <a:r>
              <a:rPr lang="en-US" sz="1600" dirty="0">
                <a:solidFill>
                  <a:srgbClr val="151617"/>
                </a:solidFill>
                <a:latin typeface="Inconsolata" pitchFamily="34" charset="0"/>
                <a:ea typeface="Inconsolata" pitchFamily="34" charset="-122"/>
                <a:cs typeface="Inconsolata" pitchFamily="34" charset="-120"/>
              </a:rPr>
              <a:t>Utilizar Git en equipo para aprender las ventajas y oportunidades que ofrece.</a:t>
            </a:r>
            <a:endParaRPr lang="en-US" sz="1600" dirty="0"/>
          </a:p>
        </p:txBody>
      </p:sp>
      <p:pic>
        <p:nvPicPr>
          <p:cNvPr id="15" name="Image 4" descr="preencoded.png">    </p:cNvPr>
          <p:cNvPicPr>
            <a:picLocks noChangeAspect="1"/>
          </p:cNvPicPr>
          <p:nvPr/>
        </p:nvPicPr>
        <p:blipFill>
          <a:blip r:embed="rId6"/>
          <a:stretch>
            <a:fillRect/>
          </a:stretch>
        </p:blipFill>
        <p:spPr>
          <a:xfrm>
            <a:off x="10787658" y="2149793"/>
            <a:ext cx="1809512" cy="1809512"/>
          </a:xfrm>
          <a:prstGeom prst="rect">
            <a:avLst/>
          </a:prstGeom>
        </p:spPr>
      </p:pic>
      <p:sp>
        <p:nvSpPr>
          <p:cNvPr id="16" name="Text 9"/>
          <p:cNvSpPr/>
          <p:nvPr/>
        </p:nvSpPr>
        <p:spPr>
          <a:xfrm>
            <a:off x="10787658" y="4194334"/>
            <a:ext cx="3047286" cy="322778"/>
          </a:xfrm>
          <a:prstGeom prst="rect">
            <a:avLst/>
          </a:prstGeom>
          <a:noFill/>
          <a:ln/>
        </p:spPr>
        <p:txBody>
          <a:bodyPr wrap="none" lIns="0" tIns="0" rIns="0" bIns="0" rtlCol="0" anchor="t"/>
          <a:lstStyle/>
          <a:p>
            <a:pPr algn="l" indent="0" marL="0">
              <a:lnSpc>
                <a:spcPts val="2500"/>
              </a:lnSpc>
              <a:buNone/>
            </a:pPr>
            <a:r>
              <a:rPr lang="en-US" sz="2000" b="1" dirty="0">
                <a:solidFill>
                  <a:srgbClr val="151617"/>
                </a:solidFill>
                <a:latin typeface="Montserrat Black" pitchFamily="34" charset="0"/>
                <a:ea typeface="Montserrat Black" pitchFamily="34" charset="-122"/>
                <a:cs typeface="Montserrat Black" pitchFamily="34" charset="-120"/>
              </a:rPr>
              <a:t>SQL &amp; Bases de Datos</a:t>
            </a:r>
            <a:endParaRPr lang="en-US" sz="2000" dirty="0"/>
          </a:p>
        </p:txBody>
      </p:sp>
      <p:sp>
        <p:nvSpPr>
          <p:cNvPr id="17" name="Text 10"/>
          <p:cNvSpPr/>
          <p:nvPr/>
        </p:nvSpPr>
        <p:spPr>
          <a:xfrm>
            <a:off x="10787658" y="4629864"/>
            <a:ext cx="3119914" cy="946904"/>
          </a:xfrm>
          <a:prstGeom prst="rect">
            <a:avLst/>
          </a:prstGeom>
          <a:noFill/>
          <a:ln/>
        </p:spPr>
        <p:txBody>
          <a:bodyPr wrap="square" lIns="0" tIns="0" rIns="0" bIns="0" rtlCol="0" anchor="t"/>
          <a:lstStyle/>
          <a:p>
            <a:pPr algn="l" indent="0" marL="0">
              <a:lnSpc>
                <a:spcPts val="2450"/>
              </a:lnSpc>
              <a:buNone/>
            </a:pPr>
            <a:r>
              <a:rPr lang="en-US" sz="1600" dirty="0">
                <a:solidFill>
                  <a:srgbClr val="151617"/>
                </a:solidFill>
                <a:latin typeface="Inconsolata" pitchFamily="34" charset="0"/>
                <a:ea typeface="Inconsolata" pitchFamily="34" charset="-122"/>
                <a:cs typeface="Inconsolata" pitchFamily="34" charset="-120"/>
              </a:rPr>
              <a:t>Consolidar lo que hemos aprendido de la creación de BBDD y su mantenimiento.</a:t>
            </a:r>
            <a:endParaRPr lang="en-US" sz="1600" dirty="0"/>
          </a:p>
        </p:txBody>
      </p:sp>
      <p:sp>
        <p:nvSpPr>
          <p:cNvPr id="18" name="Text 11"/>
          <p:cNvSpPr/>
          <p:nvPr/>
        </p:nvSpPr>
        <p:spPr>
          <a:xfrm>
            <a:off x="1032629" y="6631186"/>
            <a:ext cx="12874943" cy="631269"/>
          </a:xfrm>
          <a:prstGeom prst="rect">
            <a:avLst/>
          </a:prstGeom>
          <a:noFill/>
          <a:ln/>
        </p:spPr>
        <p:txBody>
          <a:bodyPr wrap="square" lIns="0" tIns="0" rIns="0" bIns="0" rtlCol="0" anchor="t"/>
          <a:lstStyle/>
          <a:p>
            <a:pPr algn="l" indent="0" marL="0">
              <a:lnSpc>
                <a:spcPts val="2450"/>
              </a:lnSpc>
              <a:buNone/>
            </a:pPr>
            <a:r>
              <a:rPr lang="en-US" sz="1600" dirty="0">
                <a:solidFill>
                  <a:srgbClr val="151617"/>
                </a:solidFill>
                <a:latin typeface="Inconsolata" pitchFamily="34" charset="0"/>
                <a:ea typeface="Inconsolata" pitchFamily="34" charset="-122"/>
                <a:cs typeface="Inconsolata" pitchFamily="34" charset="-120"/>
              </a:rPr>
              <a:t>Combinamos metodologías ágiles con las herramientas más potentes del ecosistema de Data Analytics para garantizar resultados de alta calidad.</a:t>
            </a:r>
            <a:endParaRPr lang="en-US" sz="1600" dirty="0"/>
          </a:p>
        </p:txBody>
      </p:sp>
      <p:sp>
        <p:nvSpPr>
          <p:cNvPr id="19" name="Shape 12"/>
          <p:cNvSpPr/>
          <p:nvPr/>
        </p:nvSpPr>
        <p:spPr>
          <a:xfrm>
            <a:off x="722828" y="6419612"/>
            <a:ext cx="22860" cy="1054418"/>
          </a:xfrm>
          <a:prstGeom prst="rect">
            <a:avLst/>
          </a:prstGeom>
          <a:solidFill>
            <a:srgbClr val="151617"/>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659249" y="1070253"/>
            <a:ext cx="513755" cy="191929"/>
          </a:xfrm>
          <a:prstGeom prst="roundRect">
            <a:avLst>
              <a:gd name="adj" fmla="val 4764"/>
            </a:avLst>
          </a:prstGeom>
          <a:noFill/>
          <a:ln w="7620">
            <a:solidFill>
              <a:srgbClr val="151617"/>
            </a:solidFill>
            <a:prstDash val="solid"/>
          </a:ln>
        </p:spPr>
      </p:sp>
      <p:sp>
        <p:nvSpPr>
          <p:cNvPr id="4" name="Text 1"/>
          <p:cNvSpPr/>
          <p:nvPr/>
        </p:nvSpPr>
        <p:spPr>
          <a:xfrm>
            <a:off x="734854" y="1111806"/>
            <a:ext cx="362545" cy="108823"/>
          </a:xfrm>
          <a:prstGeom prst="rect">
            <a:avLst/>
          </a:prstGeom>
          <a:noFill/>
          <a:ln/>
        </p:spPr>
        <p:txBody>
          <a:bodyPr wrap="none" lIns="0" tIns="0" rIns="0" bIns="0" rtlCol="0" anchor="t"/>
          <a:lstStyle/>
          <a:p>
            <a:pPr algn="l" indent="0" marL="0">
              <a:lnSpc>
                <a:spcPts val="850"/>
              </a:lnSpc>
              <a:buNone/>
            </a:pPr>
            <a:r>
              <a:rPr lang="en-US" sz="700" dirty="0">
                <a:solidFill>
                  <a:srgbClr val="151617"/>
                </a:solidFill>
                <a:latin typeface="Inconsolata" pitchFamily="34" charset="0"/>
                <a:ea typeface="Inconsolata" pitchFamily="34" charset="-122"/>
                <a:cs typeface="Inconsolata" pitchFamily="34" charset="-120"/>
              </a:rPr>
              <a:t>CONTEXTO</a:t>
            </a:r>
            <a:endParaRPr lang="en-US" sz="700" dirty="0"/>
          </a:p>
        </p:txBody>
      </p:sp>
      <p:sp>
        <p:nvSpPr>
          <p:cNvPr id="5" name="Text 2"/>
          <p:cNvSpPr/>
          <p:nvPr/>
        </p:nvSpPr>
        <p:spPr>
          <a:xfrm>
            <a:off x="659249" y="1284803"/>
            <a:ext cx="4135517" cy="354330"/>
          </a:xfrm>
          <a:prstGeom prst="rect">
            <a:avLst/>
          </a:prstGeom>
          <a:noFill/>
          <a:ln/>
        </p:spPr>
        <p:txBody>
          <a:bodyPr wrap="none" lIns="0" tIns="0" rIns="0" bIns="0" rtlCol="0" anchor="t"/>
          <a:lstStyle/>
          <a:p>
            <a:pPr algn="l" indent="0" marL="0">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¿Con qué datos contamos?</a:t>
            </a:r>
            <a:endParaRPr lang="en-US" sz="2200" dirty="0"/>
          </a:p>
        </p:txBody>
      </p:sp>
      <p:sp>
        <p:nvSpPr>
          <p:cNvPr id="6" name="Text 3"/>
          <p:cNvSpPr/>
          <p:nvPr/>
        </p:nvSpPr>
        <p:spPr>
          <a:xfrm>
            <a:off x="659249" y="1724144"/>
            <a:ext cx="7825502" cy="4763395"/>
          </a:xfrm>
          <a:prstGeom prst="rect">
            <a:avLst/>
          </a:prstGeom>
          <a:noFill/>
          <a:ln/>
        </p:spPr>
        <p:txBody>
          <a:bodyPr wrap="square" lIns="0" tIns="0" rIns="0" bIns="0" rtlCol="0" anchor="t"/>
          <a:lstStyle/>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Age</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Attrition: si se ha ido de la empresa o no</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BusinessTravel: Si le toca viajar por trabajo</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DailyRate: Cuánto le cuesta el empleado a la empresa por día</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Department</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DistanceFromHome</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Education</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EducationField</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EmployeeCount: A cuántos empleados hace referencia esa línea</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EmployeeNumber</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EnvironmentSatisfaction</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Gender</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HourlyRate: Lo mismo que daily pero por hora</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JobInvolvement: Encuesta que realiza el empleado de 1 a 4 para expresar cuánto se siente de involucrado en su trabajo</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Job Level: Puesto de trabajo, a más alto, más responsabilidad</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JobRole</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Job Satisfaction: Encuesta donde expresa su satisfacción de 1 a 4</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Marital Status</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MonthlyIncome: Sueldo</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Monthlyrate</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NumCompaniesWorked</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Over18</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OverTime</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PercentSalaryHike: Porcentaje de aumento de salario en el último año</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PerformanceRating: Otra encuesta sobre su desempeño</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RelationshipSatisfaction</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StandardHours</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StockOptionLevel: Qué nivel tiene de acceso a acciones de la empresa</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TotalWorkingYears: años trabajando en la empresa</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TrainingTimesLasyear</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WorrkLifeBalance: Encuesta de 1 a 4 para ver cómo siente que puede compaginar su trabajo con su vida</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YearsAtCompany</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YearsIncurrentRole</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YearsSinceLastPromotion</a:t>
            </a:r>
            <a:endParaRPr lang="en-US" sz="850" dirty="0"/>
          </a:p>
          <a:p>
            <a:pPr algn="l" marL="342900" indent="-342900">
              <a:lnSpc>
                <a:spcPts val="1050"/>
              </a:lnSpc>
              <a:buSzPct val="100000"/>
              <a:buChar char="•"/>
            </a:pPr>
            <a:r>
              <a:rPr lang="en-US" sz="850" dirty="0">
                <a:solidFill>
                  <a:srgbClr val="151617"/>
                </a:solidFill>
                <a:latin typeface="Inconsolata" pitchFamily="34" charset="0"/>
                <a:ea typeface="Inconsolata" pitchFamily="34" charset="-122"/>
                <a:cs typeface="Inconsolata" pitchFamily="34" charset="-120"/>
              </a:rPr>
              <a:t>Yearswithcurrentmanager</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1431727"/>
            <a:ext cx="906899" cy="426244"/>
          </a:xfrm>
          <a:prstGeom prst="roundRect">
            <a:avLst>
              <a:gd name="adj" fmla="val 2145"/>
            </a:avLst>
          </a:prstGeom>
          <a:solidFill>
            <a:srgbClr val="E4E6E7"/>
          </a:solidFill>
          <a:ln/>
        </p:spPr>
      </p:sp>
      <p:sp>
        <p:nvSpPr>
          <p:cNvPr id="3" name="Text 1"/>
          <p:cNvSpPr/>
          <p:nvPr/>
        </p:nvSpPr>
        <p:spPr>
          <a:xfrm>
            <a:off x="929878" y="1499711"/>
            <a:ext cx="634722" cy="290274"/>
          </a:xfrm>
          <a:prstGeom prst="rect">
            <a:avLst/>
          </a:prstGeom>
          <a:noFill/>
          <a:ln/>
        </p:spPr>
        <p:txBody>
          <a:bodyPr wrap="none" lIns="0" tIns="0" rIns="0" bIns="0" rtlCol="0" anchor="t"/>
          <a:lstStyle/>
          <a:p>
            <a:pPr algn="l" indent="0" marL="0">
              <a:lnSpc>
                <a:spcPts val="2250"/>
              </a:lnSpc>
              <a:buNone/>
            </a:pPr>
            <a:r>
              <a:rPr lang="en-US" sz="1400" dirty="0">
                <a:solidFill>
                  <a:srgbClr val="151617"/>
                </a:solidFill>
                <a:latin typeface="Inconsolata" pitchFamily="34" charset="0"/>
                <a:ea typeface="Inconsolata" pitchFamily="34" charset="-122"/>
                <a:cs typeface="Inconsolata" pitchFamily="34" charset="-120"/>
              </a:rPr>
              <a:t>PROCESO</a:t>
            </a:r>
            <a:endParaRPr lang="en-US" sz="1400" dirty="0"/>
          </a:p>
        </p:txBody>
      </p:sp>
      <p:sp>
        <p:nvSpPr>
          <p:cNvPr id="4" name="Text 2"/>
          <p:cNvSpPr/>
          <p:nvPr/>
        </p:nvSpPr>
        <p:spPr>
          <a:xfrm>
            <a:off x="793790" y="1948696"/>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151617"/>
                </a:solidFill>
                <a:latin typeface="Montserrat Black" pitchFamily="34" charset="0"/>
                <a:ea typeface="Montserrat Black" pitchFamily="34" charset="-122"/>
                <a:cs typeface="Montserrat Black" pitchFamily="34" charset="-120"/>
              </a:rPr>
              <a:t>Equipos</a:t>
            </a:r>
            <a:endParaRPr lang="en-US" sz="4450" dirty="0"/>
          </a:p>
        </p:txBody>
      </p:sp>
      <p:sp>
        <p:nvSpPr>
          <p:cNvPr id="5" name="Text 3"/>
          <p:cNvSpPr/>
          <p:nvPr/>
        </p:nvSpPr>
        <p:spPr>
          <a:xfrm>
            <a:off x="793790" y="2997637"/>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Nuestro proceso iterativo nos permitió adaptarnos a los desafíos encontrados, manteniendo siempre el foco en los objetivos del proyecto.</a:t>
            </a:r>
            <a:endParaRPr lang="en-US" sz="1750" dirty="0"/>
          </a:p>
        </p:txBody>
      </p:sp>
      <p:sp>
        <p:nvSpPr>
          <p:cNvPr id="6" name="Shape 4"/>
          <p:cNvSpPr/>
          <p:nvPr/>
        </p:nvSpPr>
        <p:spPr>
          <a:xfrm>
            <a:off x="793790" y="3978593"/>
            <a:ext cx="6407944" cy="2819162"/>
          </a:xfrm>
          <a:prstGeom prst="roundRect">
            <a:avLst>
              <a:gd name="adj" fmla="val 324"/>
            </a:avLst>
          </a:prstGeom>
          <a:solidFill>
            <a:srgbClr val="F8ECE4"/>
          </a:solidFill>
          <a:ln w="7620">
            <a:solidFill>
              <a:srgbClr val="151617"/>
            </a:solidFill>
            <a:prstDash val="solid"/>
          </a:ln>
          <a:effectLst>
            <a:outerShdw sx="100000" sy="100000" kx="0" ky="0" algn="bl" rotWithShape="0" blurRad="0" dist="20320" dir="2700000">
              <a:srgbClr val="151617">
                <a:alpha val="100000"/>
              </a:srgbClr>
            </a:outerShdw>
          </a:effectLst>
        </p:spPr>
      </p:sp>
      <p:sp>
        <p:nvSpPr>
          <p:cNvPr id="7" name="Text 5"/>
          <p:cNvSpPr/>
          <p:nvPr/>
        </p:nvSpPr>
        <p:spPr>
          <a:xfrm>
            <a:off x="1028224" y="421302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Equipo 1</a:t>
            </a:r>
            <a:endParaRPr lang="en-US" sz="2200" dirty="0"/>
          </a:p>
        </p:txBody>
      </p:sp>
      <p:sp>
        <p:nvSpPr>
          <p:cNvPr id="8" name="Text 6"/>
          <p:cNvSpPr/>
          <p:nvPr/>
        </p:nvSpPr>
        <p:spPr>
          <a:xfrm>
            <a:off x="1028224" y="4703445"/>
            <a:ext cx="5939076" cy="362903"/>
          </a:xfrm>
          <a:prstGeom prst="rect">
            <a:avLst/>
          </a:prstGeom>
          <a:noFill/>
          <a:ln/>
        </p:spPr>
        <p:txBody>
          <a:bodyPr wrap="none" lIns="0" tIns="0" rIns="0" bIns="0" rtlCol="0" anchor="t"/>
          <a:lstStyle/>
          <a:p>
            <a:pPr algn="l"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Ana</a:t>
            </a:r>
            <a:endParaRPr lang="en-US" sz="1750" dirty="0"/>
          </a:p>
        </p:txBody>
      </p:sp>
      <p:sp>
        <p:nvSpPr>
          <p:cNvPr id="9" name="Text 7"/>
          <p:cNvSpPr/>
          <p:nvPr/>
        </p:nvSpPr>
        <p:spPr>
          <a:xfrm>
            <a:off x="1028224" y="5202436"/>
            <a:ext cx="5939076" cy="362903"/>
          </a:xfrm>
          <a:prstGeom prst="rect">
            <a:avLst/>
          </a:prstGeom>
          <a:noFill/>
          <a:ln/>
        </p:spPr>
        <p:txBody>
          <a:bodyPr wrap="none" lIns="0" tIns="0" rIns="0" bIns="0" rtlCol="0" anchor="t"/>
          <a:lstStyle/>
          <a:p>
            <a:pPr algn="l"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Camila</a:t>
            </a:r>
            <a:endParaRPr lang="en-US" sz="1750" dirty="0"/>
          </a:p>
        </p:txBody>
      </p:sp>
      <p:sp>
        <p:nvSpPr>
          <p:cNvPr id="10" name="Text 8"/>
          <p:cNvSpPr/>
          <p:nvPr/>
        </p:nvSpPr>
        <p:spPr>
          <a:xfrm>
            <a:off x="1028224" y="5701427"/>
            <a:ext cx="5939076" cy="362903"/>
          </a:xfrm>
          <a:prstGeom prst="rect">
            <a:avLst/>
          </a:prstGeom>
          <a:noFill/>
          <a:ln/>
        </p:spPr>
        <p:txBody>
          <a:bodyPr wrap="none" lIns="0" tIns="0" rIns="0" bIns="0" rtlCol="0" anchor="t"/>
          <a:lstStyle/>
          <a:p>
            <a:pPr algn="l"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María</a:t>
            </a:r>
            <a:endParaRPr lang="en-US" sz="1750" dirty="0"/>
          </a:p>
        </p:txBody>
      </p:sp>
      <p:sp>
        <p:nvSpPr>
          <p:cNvPr id="11" name="Text 9"/>
          <p:cNvSpPr/>
          <p:nvPr/>
        </p:nvSpPr>
        <p:spPr>
          <a:xfrm>
            <a:off x="1028224" y="6200418"/>
            <a:ext cx="5939076" cy="362903"/>
          </a:xfrm>
          <a:prstGeom prst="rect">
            <a:avLst/>
          </a:prstGeom>
          <a:noFill/>
          <a:ln/>
        </p:spPr>
        <p:txBody>
          <a:bodyPr wrap="none" lIns="0" tIns="0" rIns="0" bIns="0" rtlCol="0" anchor="t"/>
          <a:lstStyle/>
          <a:p>
            <a:pPr algn="l" indent="0" marL="0">
              <a:lnSpc>
                <a:spcPts val="2850"/>
              </a:lnSpc>
              <a:buNone/>
            </a:pPr>
            <a:endParaRPr lang="en-US" sz="1750" dirty="0"/>
          </a:p>
        </p:txBody>
      </p:sp>
      <p:sp>
        <p:nvSpPr>
          <p:cNvPr id="12" name="Shape 10"/>
          <p:cNvSpPr/>
          <p:nvPr/>
        </p:nvSpPr>
        <p:spPr>
          <a:xfrm>
            <a:off x="7428548" y="3978593"/>
            <a:ext cx="6408063" cy="2819162"/>
          </a:xfrm>
          <a:prstGeom prst="roundRect">
            <a:avLst>
              <a:gd name="adj" fmla="val 324"/>
            </a:avLst>
          </a:prstGeom>
          <a:solidFill>
            <a:srgbClr val="F8ECE4"/>
          </a:solidFill>
          <a:ln w="7620">
            <a:solidFill>
              <a:srgbClr val="151617"/>
            </a:solidFill>
            <a:prstDash val="solid"/>
          </a:ln>
          <a:effectLst>
            <a:outerShdw sx="100000" sy="100000" kx="0" ky="0" algn="bl" rotWithShape="0" blurRad="0" dist="20320" dir="2700000">
              <a:srgbClr val="151617">
                <a:alpha val="100000"/>
              </a:srgbClr>
            </a:outerShdw>
          </a:effectLst>
        </p:spPr>
      </p:sp>
      <p:sp>
        <p:nvSpPr>
          <p:cNvPr id="13" name="Text 11"/>
          <p:cNvSpPr/>
          <p:nvPr/>
        </p:nvSpPr>
        <p:spPr>
          <a:xfrm>
            <a:off x="7662982" y="421302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Equipo 2</a:t>
            </a:r>
            <a:endParaRPr lang="en-US" sz="2200" dirty="0"/>
          </a:p>
        </p:txBody>
      </p:sp>
      <p:sp>
        <p:nvSpPr>
          <p:cNvPr id="14" name="Text 12"/>
          <p:cNvSpPr/>
          <p:nvPr/>
        </p:nvSpPr>
        <p:spPr>
          <a:xfrm>
            <a:off x="7662982" y="4703445"/>
            <a:ext cx="5939195" cy="362903"/>
          </a:xfrm>
          <a:prstGeom prst="rect">
            <a:avLst/>
          </a:prstGeom>
          <a:noFill/>
          <a:ln/>
        </p:spPr>
        <p:txBody>
          <a:bodyPr wrap="none" lIns="0" tIns="0" rIns="0" bIns="0" rtlCol="0" anchor="t"/>
          <a:lstStyle/>
          <a:p>
            <a:pPr algn="l"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Arantxa</a:t>
            </a:r>
            <a:endParaRPr lang="en-US" sz="1750" dirty="0"/>
          </a:p>
        </p:txBody>
      </p:sp>
      <p:sp>
        <p:nvSpPr>
          <p:cNvPr id="15" name="Text 13"/>
          <p:cNvSpPr/>
          <p:nvPr/>
        </p:nvSpPr>
        <p:spPr>
          <a:xfrm>
            <a:off x="7662982" y="5202436"/>
            <a:ext cx="5939195" cy="362903"/>
          </a:xfrm>
          <a:prstGeom prst="rect">
            <a:avLst/>
          </a:prstGeom>
          <a:noFill/>
          <a:ln/>
        </p:spPr>
        <p:txBody>
          <a:bodyPr wrap="none" lIns="0" tIns="0" rIns="0" bIns="0" rtlCol="0" anchor="t"/>
          <a:lstStyle/>
          <a:p>
            <a:pPr algn="l"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Nieves</a:t>
            </a:r>
            <a:endParaRPr lang="en-US" sz="1750" dirty="0"/>
          </a:p>
        </p:txBody>
      </p:sp>
      <p:sp>
        <p:nvSpPr>
          <p:cNvPr id="16" name="Text 14"/>
          <p:cNvSpPr/>
          <p:nvPr/>
        </p:nvSpPr>
        <p:spPr>
          <a:xfrm>
            <a:off x="7662982" y="5701427"/>
            <a:ext cx="5939195" cy="362903"/>
          </a:xfrm>
          <a:prstGeom prst="rect">
            <a:avLst/>
          </a:prstGeom>
          <a:noFill/>
          <a:ln/>
        </p:spPr>
        <p:txBody>
          <a:bodyPr wrap="none" lIns="0" tIns="0" rIns="0" bIns="0" rtlCol="0" anchor="t"/>
          <a:lstStyle/>
          <a:p>
            <a:pPr algn="l"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Valentina</a:t>
            </a:r>
            <a:endParaRPr lang="en-US" sz="1750" dirty="0"/>
          </a:p>
        </p:txBody>
      </p:sp>
      <p:sp>
        <p:nvSpPr>
          <p:cNvPr id="17" name="Text 15"/>
          <p:cNvSpPr/>
          <p:nvPr/>
        </p:nvSpPr>
        <p:spPr>
          <a:xfrm>
            <a:off x="7662982" y="6200418"/>
            <a:ext cx="5939195"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424821" y="514588"/>
            <a:ext cx="1091803" cy="293846"/>
          </a:xfrm>
          <a:prstGeom prst="roundRect">
            <a:avLst>
              <a:gd name="adj" fmla="val 3112"/>
            </a:avLst>
          </a:prstGeom>
          <a:solidFill>
            <a:srgbClr val="E4E6E7"/>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27215" y="593169"/>
            <a:ext cx="136565" cy="136565"/>
          </a:xfrm>
          <a:prstGeom prst="rect">
            <a:avLst/>
          </a:prstGeom>
        </p:spPr>
      </p:pic>
      <p:sp>
        <p:nvSpPr>
          <p:cNvPr id="4" name="Text 1"/>
          <p:cNvSpPr/>
          <p:nvPr/>
        </p:nvSpPr>
        <p:spPr>
          <a:xfrm>
            <a:off x="1732002" y="565785"/>
            <a:ext cx="682228" cy="191453"/>
          </a:xfrm>
          <a:prstGeom prst="rect">
            <a:avLst/>
          </a:prstGeom>
          <a:noFill/>
          <a:ln/>
        </p:spPr>
        <p:txBody>
          <a:bodyPr wrap="none" lIns="0" tIns="0" rIns="0" bIns="0" rtlCol="0" anchor="t"/>
          <a:lstStyle/>
          <a:p>
            <a:pPr algn="l" indent="0" marL="0">
              <a:lnSpc>
                <a:spcPts val="1500"/>
              </a:lnSpc>
              <a:buNone/>
            </a:pPr>
            <a:r>
              <a:rPr lang="en-US" sz="1050" dirty="0">
                <a:solidFill>
                  <a:srgbClr val="151617"/>
                </a:solidFill>
                <a:latin typeface="Inconsolata" pitchFamily="34" charset="0"/>
                <a:ea typeface="Inconsolata" pitchFamily="34" charset="-122"/>
                <a:cs typeface="Inconsolata" pitchFamily="34" charset="-120"/>
              </a:rPr>
              <a:t>RESULTADOS</a:t>
            </a:r>
            <a:endParaRPr lang="en-US" sz="1050" dirty="0"/>
          </a:p>
        </p:txBody>
      </p:sp>
      <p:sp>
        <p:nvSpPr>
          <p:cNvPr id="5" name="Text 2"/>
          <p:cNvSpPr/>
          <p:nvPr/>
        </p:nvSpPr>
        <p:spPr>
          <a:xfrm>
            <a:off x="1424821" y="859750"/>
            <a:ext cx="9295328" cy="533519"/>
          </a:xfrm>
          <a:prstGeom prst="rect">
            <a:avLst/>
          </a:prstGeom>
          <a:noFill/>
          <a:ln/>
        </p:spPr>
        <p:txBody>
          <a:bodyPr wrap="none" lIns="0" tIns="0" rIns="0" bIns="0" rtlCol="0" anchor="t"/>
          <a:lstStyle/>
          <a:p>
            <a:pPr algn="l" indent="0" marL="0">
              <a:lnSpc>
                <a:spcPts val="4200"/>
              </a:lnSpc>
              <a:buNone/>
            </a:pPr>
            <a:r>
              <a:rPr lang="en-US" sz="3350" b="1" dirty="0">
                <a:solidFill>
                  <a:srgbClr val="151617"/>
                </a:solidFill>
                <a:latin typeface="Montserrat Black" pitchFamily="34" charset="0"/>
                <a:ea typeface="Montserrat Black" pitchFamily="34" charset="-122"/>
                <a:cs typeface="Montserrat Black" pitchFamily="34" charset="-120"/>
              </a:rPr>
              <a:t>A tener en cuenta sobre la presentación</a:t>
            </a:r>
            <a:endParaRPr lang="en-US" sz="3350" dirty="0"/>
          </a:p>
        </p:txBody>
      </p:sp>
      <p:sp>
        <p:nvSpPr>
          <p:cNvPr id="6" name="Text 3"/>
          <p:cNvSpPr/>
          <p:nvPr/>
        </p:nvSpPr>
        <p:spPr>
          <a:xfrm>
            <a:off x="1424821" y="1714500"/>
            <a:ext cx="3040142" cy="320040"/>
          </a:xfrm>
          <a:prstGeom prst="rect">
            <a:avLst/>
          </a:prstGeom>
          <a:noFill/>
          <a:ln/>
        </p:spPr>
        <p:txBody>
          <a:bodyPr wrap="none" lIns="0" tIns="0" rIns="0" bIns="0" rtlCol="0" anchor="t"/>
          <a:lstStyle/>
          <a:p>
            <a:pPr algn="l" indent="0" marL="0">
              <a:lnSpc>
                <a:spcPts val="2500"/>
              </a:lnSpc>
              <a:buNone/>
            </a:pPr>
            <a:r>
              <a:rPr lang="en-US" sz="2000" b="1" dirty="0">
                <a:solidFill>
                  <a:srgbClr val="151617"/>
                </a:solidFill>
                <a:latin typeface="Montserrat Black" pitchFamily="34" charset="0"/>
                <a:ea typeface="Montserrat Black" pitchFamily="34" charset="-122"/>
                <a:cs typeface="Montserrat Black" pitchFamily="34" charset="-120"/>
              </a:rPr>
              <a:t>Insights Descubiertos</a:t>
            </a:r>
            <a:endParaRPr lang="en-US" sz="2000" dirty="0"/>
          </a:p>
        </p:txBody>
      </p:sp>
      <p:sp>
        <p:nvSpPr>
          <p:cNvPr id="7" name="Shape 4"/>
          <p:cNvSpPr/>
          <p:nvPr/>
        </p:nvSpPr>
        <p:spPr>
          <a:xfrm>
            <a:off x="1424821" y="2179082"/>
            <a:ext cx="384096" cy="384096"/>
          </a:xfrm>
          <a:prstGeom prst="roundRect">
            <a:avLst>
              <a:gd name="adj" fmla="val 2381"/>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8" name="Text 5"/>
          <p:cNvSpPr/>
          <p:nvPr/>
        </p:nvSpPr>
        <p:spPr>
          <a:xfrm>
            <a:off x="1488877" y="2211110"/>
            <a:ext cx="255984" cy="320040"/>
          </a:xfrm>
          <a:prstGeom prst="rect">
            <a:avLst/>
          </a:prstGeom>
          <a:noFill/>
          <a:ln/>
        </p:spPr>
        <p:txBody>
          <a:bodyPr wrap="none" lIns="0" tIns="0" rIns="0" bIns="0" rtlCol="0" anchor="t"/>
          <a:lstStyle/>
          <a:p>
            <a:pPr algn="ctr" indent="0" marL="0">
              <a:lnSpc>
                <a:spcPts val="2000"/>
              </a:lnSpc>
              <a:buNone/>
            </a:pPr>
            <a:r>
              <a:rPr lang="en-US" sz="2000" b="1" dirty="0">
                <a:solidFill>
                  <a:srgbClr val="151617"/>
                </a:solidFill>
                <a:latin typeface="Montserrat Black" pitchFamily="34" charset="0"/>
                <a:ea typeface="Montserrat Black" pitchFamily="34" charset="-122"/>
                <a:cs typeface="Montserrat Black" pitchFamily="34" charset="-120"/>
              </a:rPr>
              <a:t>1</a:t>
            </a:r>
            <a:endParaRPr lang="en-US" sz="2000" dirty="0"/>
          </a:p>
        </p:txBody>
      </p:sp>
      <p:sp>
        <p:nvSpPr>
          <p:cNvPr id="9" name="Text 6"/>
          <p:cNvSpPr/>
          <p:nvPr/>
        </p:nvSpPr>
        <p:spPr>
          <a:xfrm>
            <a:off x="1937385" y="2237661"/>
            <a:ext cx="5779294" cy="533400"/>
          </a:xfrm>
          <a:prstGeom prst="rect">
            <a:avLst/>
          </a:prstGeom>
          <a:noFill/>
          <a:ln/>
        </p:spPr>
        <p:txBody>
          <a:bodyPr wrap="square" lIns="0" tIns="0" rIns="0" bIns="0" rtlCol="0" anchor="t"/>
          <a:lstStyle/>
          <a:p>
            <a:pPr algn="l" indent="0" marL="0">
              <a:lnSpc>
                <a:spcPts val="2100"/>
              </a:lnSpc>
              <a:buNone/>
            </a:pPr>
            <a:r>
              <a:rPr lang="en-US" sz="1650" b="1" dirty="0">
                <a:solidFill>
                  <a:srgbClr val="151617"/>
                </a:solidFill>
                <a:latin typeface="Montserrat Black" pitchFamily="34" charset="0"/>
                <a:ea typeface="Montserrat Black" pitchFamily="34" charset="-122"/>
                <a:cs typeface="Montserrat Black" pitchFamily="34" charset="-120"/>
              </a:rPr>
              <a:t>Introducción, objetivos, paso, herramientas, retos, y organización</a:t>
            </a:r>
            <a:endParaRPr lang="en-US" sz="1650" dirty="0"/>
          </a:p>
        </p:txBody>
      </p:sp>
      <p:sp>
        <p:nvSpPr>
          <p:cNvPr id="10" name="Shape 7"/>
          <p:cNvSpPr/>
          <p:nvPr/>
        </p:nvSpPr>
        <p:spPr>
          <a:xfrm>
            <a:off x="1424821" y="3027998"/>
            <a:ext cx="384096" cy="384096"/>
          </a:xfrm>
          <a:prstGeom prst="roundRect">
            <a:avLst>
              <a:gd name="adj" fmla="val 2381"/>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11" name="Text 8"/>
          <p:cNvSpPr/>
          <p:nvPr/>
        </p:nvSpPr>
        <p:spPr>
          <a:xfrm>
            <a:off x="1488877" y="3060025"/>
            <a:ext cx="255984" cy="320040"/>
          </a:xfrm>
          <a:prstGeom prst="rect">
            <a:avLst/>
          </a:prstGeom>
          <a:noFill/>
          <a:ln/>
        </p:spPr>
        <p:txBody>
          <a:bodyPr wrap="none" lIns="0" tIns="0" rIns="0" bIns="0" rtlCol="0" anchor="t"/>
          <a:lstStyle/>
          <a:p>
            <a:pPr algn="ctr" indent="0" marL="0">
              <a:lnSpc>
                <a:spcPts val="2000"/>
              </a:lnSpc>
              <a:buNone/>
            </a:pPr>
            <a:r>
              <a:rPr lang="en-US" sz="2000" b="1" dirty="0">
                <a:solidFill>
                  <a:srgbClr val="151617"/>
                </a:solidFill>
                <a:latin typeface="Montserrat Black" pitchFamily="34" charset="0"/>
                <a:ea typeface="Montserrat Black" pitchFamily="34" charset="-122"/>
                <a:cs typeface="Montserrat Black" pitchFamily="34" charset="-120"/>
              </a:rPr>
              <a:t>2</a:t>
            </a:r>
            <a:endParaRPr lang="en-US" sz="2000" dirty="0"/>
          </a:p>
        </p:txBody>
      </p:sp>
      <p:sp>
        <p:nvSpPr>
          <p:cNvPr id="12" name="Text 9"/>
          <p:cNvSpPr/>
          <p:nvPr/>
        </p:nvSpPr>
        <p:spPr>
          <a:xfrm>
            <a:off x="1937385" y="3086576"/>
            <a:ext cx="5779294" cy="1066800"/>
          </a:xfrm>
          <a:prstGeom prst="rect">
            <a:avLst/>
          </a:prstGeom>
          <a:noFill/>
          <a:ln/>
        </p:spPr>
        <p:txBody>
          <a:bodyPr wrap="square" lIns="0" tIns="0" rIns="0" bIns="0" rtlCol="0" anchor="t"/>
          <a:lstStyle/>
          <a:p>
            <a:pPr algn="l" indent="0" marL="0">
              <a:lnSpc>
                <a:spcPts val="2100"/>
              </a:lnSpc>
              <a:buNone/>
            </a:pPr>
            <a:r>
              <a:rPr lang="en-US" sz="1650" b="1" dirty="0">
                <a:solidFill>
                  <a:srgbClr val="151617"/>
                </a:solidFill>
                <a:latin typeface="Montserrat Black" pitchFamily="34" charset="0"/>
                <a:ea typeface="Montserrat Black" pitchFamily="34" charset="-122"/>
                <a:cs typeface="Montserrat Black" pitchFamily="34" charset="-120"/>
              </a:rPr>
              <a:t>La parte central serán los insights, que habrá que mostrarlos en una presentación como esta con canvas o la herramientas que prefiráis, no hay que enseñar visual.</a:t>
            </a:r>
            <a:endParaRPr lang="en-US" sz="1650" dirty="0"/>
          </a:p>
        </p:txBody>
      </p:sp>
      <p:sp>
        <p:nvSpPr>
          <p:cNvPr id="13" name="Shape 10"/>
          <p:cNvSpPr/>
          <p:nvPr/>
        </p:nvSpPr>
        <p:spPr>
          <a:xfrm>
            <a:off x="1424821" y="4410313"/>
            <a:ext cx="384096" cy="384096"/>
          </a:xfrm>
          <a:prstGeom prst="roundRect">
            <a:avLst>
              <a:gd name="adj" fmla="val 2381"/>
            </a:avLst>
          </a:prstGeom>
          <a:solidFill>
            <a:srgbClr val="F8ECE4"/>
          </a:solidFill>
          <a:ln w="7620">
            <a:solidFill>
              <a:srgbClr val="151617"/>
            </a:solidFill>
            <a:prstDash val="solid"/>
          </a:ln>
          <a:effectLst>
            <a:outerShdw sx="100000" sy="100000" kx="0" ky="0" algn="bl" rotWithShape="0" blurRad="0" dist="15240" dir="2700000">
              <a:srgbClr val="151617">
                <a:alpha val="100000"/>
              </a:srgbClr>
            </a:outerShdw>
          </a:effectLst>
        </p:spPr>
      </p:sp>
      <p:sp>
        <p:nvSpPr>
          <p:cNvPr id="14" name="Text 11"/>
          <p:cNvSpPr/>
          <p:nvPr/>
        </p:nvSpPr>
        <p:spPr>
          <a:xfrm>
            <a:off x="1488877" y="4442341"/>
            <a:ext cx="255984" cy="320040"/>
          </a:xfrm>
          <a:prstGeom prst="rect">
            <a:avLst/>
          </a:prstGeom>
          <a:noFill/>
          <a:ln/>
        </p:spPr>
        <p:txBody>
          <a:bodyPr wrap="none" lIns="0" tIns="0" rIns="0" bIns="0" rtlCol="0" anchor="t"/>
          <a:lstStyle/>
          <a:p>
            <a:pPr algn="ctr" indent="0" marL="0">
              <a:lnSpc>
                <a:spcPts val="2000"/>
              </a:lnSpc>
              <a:buNone/>
            </a:pPr>
            <a:r>
              <a:rPr lang="en-US" sz="2000" b="1" dirty="0">
                <a:solidFill>
                  <a:srgbClr val="151617"/>
                </a:solidFill>
                <a:latin typeface="Montserrat Black" pitchFamily="34" charset="0"/>
                <a:ea typeface="Montserrat Black" pitchFamily="34" charset="-122"/>
                <a:cs typeface="Montserrat Black" pitchFamily="34" charset="-120"/>
              </a:rPr>
              <a:t>3</a:t>
            </a:r>
            <a:endParaRPr lang="en-US" sz="2000" dirty="0"/>
          </a:p>
        </p:txBody>
      </p:sp>
      <p:sp>
        <p:nvSpPr>
          <p:cNvPr id="15" name="Text 12"/>
          <p:cNvSpPr/>
          <p:nvPr/>
        </p:nvSpPr>
        <p:spPr>
          <a:xfrm>
            <a:off x="1937385" y="4468892"/>
            <a:ext cx="5779294" cy="533400"/>
          </a:xfrm>
          <a:prstGeom prst="rect">
            <a:avLst/>
          </a:prstGeom>
          <a:noFill/>
          <a:ln/>
        </p:spPr>
        <p:txBody>
          <a:bodyPr wrap="square" lIns="0" tIns="0" rIns="0" bIns="0" rtlCol="0" anchor="t"/>
          <a:lstStyle/>
          <a:p>
            <a:pPr algn="l" indent="0" marL="0">
              <a:lnSpc>
                <a:spcPts val="2100"/>
              </a:lnSpc>
              <a:buNone/>
            </a:pPr>
            <a:r>
              <a:rPr lang="en-US" sz="1650" b="1" dirty="0">
                <a:solidFill>
                  <a:srgbClr val="151617"/>
                </a:solidFill>
                <a:latin typeface="Montserrat Black" pitchFamily="34" charset="0"/>
                <a:ea typeface="Montserrat Black" pitchFamily="34" charset="-122"/>
                <a:cs typeface="Montserrat Black" pitchFamily="34" charset="-120"/>
              </a:rPr>
              <a:t>Resultados para la empresa. Propuestas de mejora. Conclusiones.</a:t>
            </a:r>
            <a:endParaRPr lang="en-US" sz="1650" dirty="0"/>
          </a:p>
        </p:txBody>
      </p:sp>
      <p:pic>
        <p:nvPicPr>
          <p:cNvPr id="16" name="Image 1" descr="preencoded.png">    </p:cNvPr>
          <p:cNvPicPr>
            <a:picLocks noChangeAspect="1"/>
          </p:cNvPicPr>
          <p:nvPr/>
        </p:nvPicPr>
        <p:blipFill>
          <a:blip r:embed="rId3"/>
          <a:stretch>
            <a:fillRect/>
          </a:stretch>
        </p:blipFill>
        <p:spPr>
          <a:xfrm>
            <a:off x="8140779" y="1730573"/>
            <a:ext cx="5072182" cy="5072182"/>
          </a:xfrm>
          <a:prstGeom prst="rect">
            <a:avLst/>
          </a:prstGeom>
        </p:spPr>
      </p:pic>
      <p:sp>
        <p:nvSpPr>
          <p:cNvPr id="17" name="Text 13"/>
          <p:cNvSpPr/>
          <p:nvPr/>
        </p:nvSpPr>
        <p:spPr>
          <a:xfrm>
            <a:off x="1424821" y="7091839"/>
            <a:ext cx="11780639" cy="239316"/>
          </a:xfrm>
          <a:prstGeom prst="rect">
            <a:avLst/>
          </a:prstGeom>
          <a:noFill/>
          <a:ln/>
        </p:spPr>
        <p:txBody>
          <a:bodyPr wrap="none" lIns="0" tIns="0" rIns="0" bIns="0" rtlCol="0" anchor="t"/>
          <a:lstStyle/>
          <a:p>
            <a:pPr algn="l" indent="0" marL="0">
              <a:lnSpc>
                <a:spcPts val="1850"/>
              </a:lnSpc>
              <a:buNone/>
            </a:pPr>
            <a:r>
              <a:rPr lang="en-US" sz="1300" dirty="0">
                <a:solidFill>
                  <a:srgbClr val="151617"/>
                </a:solidFill>
                <a:latin typeface="Inconsolata" pitchFamily="34" charset="0"/>
                <a:ea typeface="Inconsolata" pitchFamily="34" charset="-122"/>
                <a:cs typeface="Inconsolata" pitchFamily="34" charset="-120"/>
              </a:rPr>
              <a:t>19 de febrero</a:t>
            </a:r>
            <a:endParaRPr lang="en-US" sz="1300" dirty="0"/>
          </a:p>
        </p:txBody>
      </p:sp>
      <p:sp>
        <p:nvSpPr>
          <p:cNvPr id="18" name="Text 14"/>
          <p:cNvSpPr/>
          <p:nvPr/>
        </p:nvSpPr>
        <p:spPr>
          <a:xfrm>
            <a:off x="1424821" y="7475696"/>
            <a:ext cx="11780639" cy="239316"/>
          </a:xfrm>
          <a:prstGeom prst="rect">
            <a:avLst/>
          </a:prstGeom>
          <a:noFill/>
          <a:ln/>
        </p:spPr>
        <p:txBody>
          <a:bodyPr wrap="none" lIns="0" tIns="0" rIns="0" bIns="0" rtlCol="0" anchor="t"/>
          <a:lstStyle/>
          <a:p>
            <a:pPr algn="l" indent="0" marL="0">
              <a:lnSpc>
                <a:spcPts val="1850"/>
              </a:lnSpc>
              <a:buNone/>
            </a:pPr>
            <a:r>
              <a:rPr lang="en-US" sz="1300" dirty="0">
                <a:solidFill>
                  <a:srgbClr val="151617"/>
                </a:solidFill>
                <a:latin typeface="Inconsolata" pitchFamily="34" charset="0"/>
                <a:ea typeface="Inconsolata" pitchFamily="34" charset="-122"/>
                <a:cs typeface="Inconsolata" pitchFamily="34" charset="-120"/>
              </a:rPr>
              <a:t>15' aprox por equipo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053590"/>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151617"/>
                </a:solidFill>
                <a:latin typeface="Montserrat Black" pitchFamily="34" charset="0"/>
                <a:ea typeface="Montserrat Black" pitchFamily="34" charset="-122"/>
                <a:cs typeface="Montserrat Black" pitchFamily="34" charset="-120"/>
              </a:rPr>
              <a:t>Product Owner</a:t>
            </a:r>
            <a:endParaRPr lang="en-US" sz="4450" dirty="0"/>
          </a:p>
        </p:txBody>
      </p:sp>
      <p:sp>
        <p:nvSpPr>
          <p:cNvPr id="4" name="Text 1"/>
          <p:cNvSpPr/>
          <p:nvPr/>
        </p:nvSpPr>
        <p:spPr>
          <a:xfrm>
            <a:off x="6280190" y="2853095"/>
            <a:ext cx="7556421" cy="1275874"/>
          </a:xfrm>
          <a:prstGeom prst="rect">
            <a:avLst/>
          </a:prstGeom>
          <a:noFill/>
          <a:ln/>
        </p:spPr>
        <p:txBody>
          <a:bodyPr wrap="square" lIns="0" tIns="0" rIns="0" bIns="0" rtlCol="0" anchor="t"/>
          <a:lstStyle/>
          <a:p>
            <a:pPr algn="l" indent="0" marL="0">
              <a:lnSpc>
                <a:spcPts val="3300"/>
              </a:lnSpc>
              <a:buNone/>
            </a:pPr>
            <a:r>
              <a:rPr lang="en-US" sz="2650" b="1" dirty="0">
                <a:solidFill>
                  <a:srgbClr val="151617"/>
                </a:solidFill>
                <a:latin typeface="Montserrat Black" pitchFamily="34" charset="0"/>
                <a:ea typeface="Montserrat Black" pitchFamily="34" charset="-122"/>
                <a:cs typeface="Montserrat Black" pitchFamily="34" charset="-120"/>
              </a:rPr>
              <a:t>Cualquier duda sobre la interpretación de las columnas me la podéis preguntas, ya que represento al cliente. </a:t>
            </a:r>
            <a:endParaRPr lang="en-US" sz="2650" dirty="0"/>
          </a:p>
        </p:txBody>
      </p:sp>
      <p:sp>
        <p:nvSpPr>
          <p:cNvPr id="5" name="Text 2"/>
          <p:cNvSpPr/>
          <p:nvPr/>
        </p:nvSpPr>
        <p:spPr>
          <a:xfrm>
            <a:off x="6280190" y="4469130"/>
            <a:ext cx="7556421" cy="362903"/>
          </a:xfrm>
          <a:prstGeom prst="rect">
            <a:avLst/>
          </a:prstGeom>
          <a:noFill/>
          <a:ln/>
        </p:spPr>
        <p:txBody>
          <a:bodyPr wrap="none" lIns="0" tIns="0" rIns="0" bIns="0" rtlCol="0" anchor="t"/>
          <a:lstStyle/>
          <a:p>
            <a:pPr algn="l" indent="0" marL="0">
              <a:lnSpc>
                <a:spcPts val="2850"/>
              </a:lnSpc>
              <a:buNone/>
            </a:pPr>
            <a:endParaRPr lang="en-US" sz="1750" dirty="0"/>
          </a:p>
        </p:txBody>
      </p:sp>
      <p:sp>
        <p:nvSpPr>
          <p:cNvPr id="6" name="Text 3"/>
          <p:cNvSpPr/>
          <p:nvPr/>
        </p:nvSpPr>
        <p:spPr>
          <a:xfrm>
            <a:off x="6280190" y="5087183"/>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151617"/>
                </a:solidFill>
                <a:latin typeface="Inconsolata" pitchFamily="34" charset="0"/>
                <a:ea typeface="Inconsolata" pitchFamily="34" charset="-122"/>
                <a:cs typeface="Inconsolata" pitchFamily="34" charset="-120"/>
              </a:rPr>
              <a:t>Lo que veáis relevante o no a la hora de analizar datos, ya queda en vuestras manos. No habrá tiempo para analizar absolutamente todos los datos. ¿Qué consideráis más importante?</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3494246"/>
            <a:ext cx="1012984" cy="441484"/>
          </a:xfrm>
          <a:prstGeom prst="roundRect">
            <a:avLst>
              <a:gd name="adj" fmla="val 2071"/>
            </a:avLst>
          </a:prstGeom>
          <a:noFill/>
          <a:ln w="7620">
            <a:solidFill>
              <a:srgbClr val="151617"/>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37498" y="3624263"/>
            <a:ext cx="181451" cy="181451"/>
          </a:xfrm>
          <a:prstGeom prst="rect">
            <a:avLst/>
          </a:prstGeom>
        </p:spPr>
      </p:pic>
      <p:sp>
        <p:nvSpPr>
          <p:cNvPr id="4" name="Text 1"/>
          <p:cNvSpPr/>
          <p:nvPr/>
        </p:nvSpPr>
        <p:spPr>
          <a:xfrm>
            <a:off x="1209675" y="3569851"/>
            <a:ext cx="453390" cy="290274"/>
          </a:xfrm>
          <a:prstGeom prst="rect">
            <a:avLst/>
          </a:prstGeom>
          <a:noFill/>
          <a:ln/>
        </p:spPr>
        <p:txBody>
          <a:bodyPr wrap="none" lIns="0" tIns="0" rIns="0" bIns="0" rtlCol="0" anchor="t"/>
          <a:lstStyle/>
          <a:p>
            <a:pPr algn="l" indent="0" marL="0">
              <a:lnSpc>
                <a:spcPts val="2250"/>
              </a:lnSpc>
              <a:buNone/>
            </a:pPr>
            <a:r>
              <a:rPr lang="en-US" sz="1400" dirty="0">
                <a:solidFill>
                  <a:srgbClr val="151617"/>
                </a:solidFill>
                <a:latin typeface="Inconsolata" pitchFamily="34" charset="0"/>
                <a:ea typeface="Inconsolata" pitchFamily="34" charset="-122"/>
                <a:cs typeface="Inconsolata" pitchFamily="34" charset="-120"/>
              </a:rPr>
              <a:t>DUDAS</a:t>
            </a:r>
            <a:endParaRPr lang="en-US" sz="1400" dirty="0"/>
          </a:p>
        </p:txBody>
      </p:sp>
      <p:sp>
        <p:nvSpPr>
          <p:cNvPr id="5" name="Text 2"/>
          <p:cNvSpPr/>
          <p:nvPr/>
        </p:nvSpPr>
        <p:spPr>
          <a:xfrm>
            <a:off x="793790" y="4026456"/>
            <a:ext cx="6717625" cy="708779"/>
          </a:xfrm>
          <a:prstGeom prst="rect">
            <a:avLst/>
          </a:prstGeom>
          <a:noFill/>
          <a:ln/>
        </p:spPr>
        <p:txBody>
          <a:bodyPr wrap="none" lIns="0" tIns="0" rIns="0" bIns="0" rtlCol="0" anchor="t"/>
          <a:lstStyle/>
          <a:p>
            <a:pPr algn="l" indent="0" marL="0">
              <a:lnSpc>
                <a:spcPts val="5550"/>
              </a:lnSpc>
              <a:buNone/>
            </a:pPr>
            <a:r>
              <a:rPr lang="en-US" sz="4450" b="1" dirty="0">
                <a:solidFill>
                  <a:srgbClr val="151617"/>
                </a:solidFill>
                <a:latin typeface="Montserrat Black" pitchFamily="34" charset="0"/>
                <a:ea typeface="Montserrat Black" pitchFamily="34" charset="-122"/>
                <a:cs typeface="Montserrat Black" pitchFamily="34" charset="-120"/>
              </a:rPr>
              <a:t>¿Preguntas o ruegos?</a:t>
            </a:r>
            <a:endParaRPr lang="en-US" sz="4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26F27EB6F33B448B16EE6520835CE91" ma:contentTypeVersion="11" ma:contentTypeDescription="Crear nuevo documento." ma:contentTypeScope="" ma:versionID="12ada12c9c3fd9a195d91939cc0c4c0a">
  <xsd:schema xmlns:xsd="http://www.w3.org/2001/XMLSchema" xmlns:xs="http://www.w3.org/2001/XMLSchema" xmlns:p="http://schemas.microsoft.com/office/2006/metadata/properties" xmlns:ns2="351c90c8-63b8-41af-8cfb-f40a968b5c4e" xmlns:ns3="d64416d7-72b9-4eff-b677-5fb0afdf598f" targetNamespace="http://schemas.microsoft.com/office/2006/metadata/properties" ma:root="true" ma:fieldsID="770f3ed50fc5254f4d98c59f0afaf441" ns2:_="" ns3:_="">
    <xsd:import namespace="351c90c8-63b8-41af-8cfb-f40a968b5c4e"/>
    <xsd:import namespace="d64416d7-72b9-4eff-b677-5fb0afdf598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1c90c8-63b8-41af-8cfb-f40a968b5c4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c4888bf4-7e81-4869-9185-f6b2544c483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64416d7-72b9-4eff-b677-5fb0afdf598f"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032e648a-c5e1-4311-9aba-87efecedc3c5}" ma:internalName="TaxCatchAll" ma:showField="CatchAllData" ma:web="d64416d7-72b9-4eff-b677-5fb0afdf598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51c90c8-63b8-41af-8cfb-f40a968b5c4e">
      <Terms xmlns="http://schemas.microsoft.com/office/infopath/2007/PartnerControls"/>
    </lcf76f155ced4ddcb4097134ff3c332f>
    <TaxCatchAll xmlns="d64416d7-72b9-4eff-b677-5fb0afdf598f" xsi:nil="true"/>
  </documentManagement>
</p:properties>
</file>

<file path=customXml/itemProps1.xml><?xml version="1.0" encoding="utf-8"?>
<ds:datastoreItem xmlns:ds="http://schemas.openxmlformats.org/officeDocument/2006/customXml" ds:itemID="{C47B8AC3-9C31-49A2-BBFA-91DA119E3761}"/>
</file>

<file path=customXml/itemProps2.xml><?xml version="1.0" encoding="utf-8"?>
<ds:datastoreItem xmlns:ds="http://schemas.openxmlformats.org/officeDocument/2006/customXml" ds:itemID="{9E4C96C4-0594-49BB-9B1D-4BC106F5C498}"/>
</file>

<file path=customXml/itemProps3.xml><?xml version="1.0" encoding="utf-8"?>
<ds:datastoreItem xmlns:ds="http://schemas.openxmlformats.org/officeDocument/2006/customXml" ds:itemID="{EEEE6C49-E61F-4896-8518-D2774D056299}"/>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2026-01-29T13:14:44Z</dcterms:created>
  <dcterms:modified xsi:type="dcterms:W3CDTF">2026-01-29T13:14:44Z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0x010100E26F27EB6F33B448B16EE6520835CE91</vt:lpwstr>
  </property>
</Properties>
</file>